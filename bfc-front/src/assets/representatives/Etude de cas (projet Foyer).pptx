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1" r:id="rId15"/>
    <p:sldId id="282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0693400" cy="7562850"/>
  <p:notesSz cx="10234613" cy="7104063"/>
  <p:embeddedFontLst>
    <p:embeddedFont>
      <p:font typeface="Century Gothic" panose="020B0502020202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82">
          <p15:clr>
            <a:srgbClr val="A4A3A4"/>
          </p15:clr>
        </p15:guide>
        <p15:guide id="2" pos="3368">
          <p15:clr>
            <a:srgbClr val="A4A3A4"/>
          </p15:clr>
        </p15:guide>
        <p15:guide id="3" orient="horz" pos="2238">
          <p15:clr>
            <a:srgbClr val="A4A3A4"/>
          </p15:clr>
        </p15:guide>
        <p15:guide id="4" pos="3224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iE27+q8NiCbsToDoVCKYVc/GlK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392" y="4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382"/>
        <p:guide pos="3368"/>
        <p:guide orient="horz" pos="2238"/>
        <p:guide pos="32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2" y="2"/>
            <a:ext cx="4435101" cy="3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797996" y="2"/>
            <a:ext cx="4433581" cy="3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75" cy="279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2" y="6747667"/>
            <a:ext cx="4435101" cy="3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797996" y="6747667"/>
            <a:ext cx="4433581" cy="3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fr-FR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1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75" cy="279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" name="Google Shape;26;p1:notes"/>
          <p:cNvSpPr txBox="1">
            <a:spLocks noGrp="1"/>
          </p:cNvSpPr>
          <p:nvPr>
            <p:ph type="sldNum" idx="12"/>
          </p:nvPr>
        </p:nvSpPr>
        <p:spPr>
          <a:xfrm>
            <a:off x="5797996" y="6747667"/>
            <a:ext cx="4433581" cy="35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fld id="{00000000-1234-1234-1234-123412341234}" type="slidenum">
              <a:rPr lang="fr-FR" sz="1700">
                <a:solidFill>
                  <a:srgbClr val="000000"/>
                </a:solidFill>
              </a:rPr>
              <a:t>1</a:t>
            </a:fld>
            <a:endParaRPr sz="17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975c23ed04_1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00" cy="239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g2975c23ed04_1_78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00" cy="27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" name="Google Shape;37;g2975c23ed04_1_78:notes"/>
          <p:cNvSpPr txBox="1">
            <a:spLocks noGrp="1"/>
          </p:cNvSpPr>
          <p:nvPr>
            <p:ph type="sldNum" idx="12"/>
          </p:nvPr>
        </p:nvSpPr>
        <p:spPr>
          <a:xfrm>
            <a:off x="5797996" y="6747667"/>
            <a:ext cx="44337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fld id="{00000000-1234-1234-1234-123412341234}" type="slidenum">
              <a:rPr lang="fr-FR" sz="1700">
                <a:solidFill>
                  <a:srgbClr val="000000"/>
                </a:solidFill>
              </a:rPr>
              <a:t>2</a:t>
            </a:fld>
            <a:endParaRPr sz="17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75" cy="279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" name="Google Shape;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75" cy="279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75" cy="279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" name="Google Shape;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75" cy="279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" name="Google Shape;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75" cy="279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75" cy="279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75" cy="279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75" cy="279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75" cy="279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75" cy="279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75" cy="279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8D676F74-CEF5-4371-A314-8EAB17E92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:notes">
            <a:extLst>
              <a:ext uri="{FF2B5EF4-FFF2-40B4-BE49-F238E27FC236}">
                <a16:creationId xmlns:a16="http://schemas.microsoft.com/office/drawing/2014/main" id="{A64B0C94-5510-BB1E-9745-AF2EB1E48E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75" cy="279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29:notes">
            <a:extLst>
              <a:ext uri="{FF2B5EF4-FFF2-40B4-BE49-F238E27FC236}">
                <a16:creationId xmlns:a16="http://schemas.microsoft.com/office/drawing/2014/main" id="{95C5CC62-934B-EC0C-6153-E80718306D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13319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D7977F10-B25C-D24D-34C7-08AB059FC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:notes">
            <a:extLst>
              <a:ext uri="{FF2B5EF4-FFF2-40B4-BE49-F238E27FC236}">
                <a16:creationId xmlns:a16="http://schemas.microsoft.com/office/drawing/2014/main" id="{321535A9-5916-17DD-EB8F-BCEB55E085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75" cy="279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29:notes">
            <a:extLst>
              <a:ext uri="{FF2B5EF4-FFF2-40B4-BE49-F238E27FC236}">
                <a16:creationId xmlns:a16="http://schemas.microsoft.com/office/drawing/2014/main" id="{B9611D98-7954-BE83-27AB-A7574829A5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647738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75" cy="279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75" cy="279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75" cy="279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3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00" cy="27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la condition de l’étudiant doit réserver une seule chambre dans la meme année </a:t>
            </a:r>
            <a:endParaRPr/>
          </a:p>
        </p:txBody>
      </p:sp>
      <p:sp>
        <p:nvSpPr>
          <p:cNvPr id="160" name="Google Shape;16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975c23ed04_1_0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00" cy="27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g2975c23ed0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75" cy="279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975c23ed04_1_20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00" cy="27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g2975c23ed04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00" cy="27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00" cy="27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9b08cc0492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29b08cc0492_3_0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00" cy="27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g29b08cc0492_3_0:notes"/>
          <p:cNvSpPr txBox="1">
            <a:spLocks noGrp="1"/>
          </p:cNvSpPr>
          <p:nvPr>
            <p:ph type="sldNum" idx="12"/>
          </p:nvPr>
        </p:nvSpPr>
        <p:spPr>
          <a:xfrm>
            <a:off x="5797996" y="6747667"/>
            <a:ext cx="44337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9b08cc0492_3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29b08cc0492_3_21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00" cy="27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g29b08cc0492_3_21:notes"/>
          <p:cNvSpPr txBox="1">
            <a:spLocks noGrp="1"/>
          </p:cNvSpPr>
          <p:nvPr>
            <p:ph type="sldNum" idx="12"/>
          </p:nvPr>
        </p:nvSpPr>
        <p:spPr>
          <a:xfrm>
            <a:off x="5797996" y="6747667"/>
            <a:ext cx="44337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:notes"/>
          <p:cNvSpPr txBox="1">
            <a:spLocks noGrp="1"/>
          </p:cNvSpPr>
          <p:nvPr>
            <p:ph type="body" idx="1"/>
          </p:nvPr>
        </p:nvSpPr>
        <p:spPr>
          <a:xfrm>
            <a:off x="1024071" y="3419315"/>
            <a:ext cx="8186475" cy="2797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43400" rIns="86825" bIns="43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889000"/>
            <a:ext cx="3386137" cy="239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/>
          <p:nvPr/>
        </p:nvSpPr>
        <p:spPr>
          <a:xfrm>
            <a:off x="0" y="7226723"/>
            <a:ext cx="10693400" cy="336127"/>
          </a:xfrm>
          <a:custGeom>
            <a:avLst/>
            <a:gdLst/>
            <a:ahLst/>
            <a:cxnLst/>
            <a:rect l="l" t="t" r="r" b="b"/>
            <a:pathLst>
              <a:path w="9144000" h="304800" extrusionOk="0">
                <a:moveTo>
                  <a:pt x="0" y="304800"/>
                </a:moveTo>
                <a:lnTo>
                  <a:pt x="9144000" y="304800"/>
                </a:lnTo>
                <a:lnTo>
                  <a:pt x="91440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5"/>
              <a:buFont typeface="Arial"/>
              <a:buNone/>
            </a:pPr>
            <a:endParaRPr sz="19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5"/>
          <p:cNvSpPr/>
          <p:nvPr/>
        </p:nvSpPr>
        <p:spPr>
          <a:xfrm>
            <a:off x="0" y="0"/>
            <a:ext cx="10693400" cy="1260475"/>
          </a:xfrm>
          <a:custGeom>
            <a:avLst/>
            <a:gdLst/>
            <a:ahLst/>
            <a:cxnLst/>
            <a:rect l="l" t="t" r="r" b="b"/>
            <a:pathLst>
              <a:path w="9144000" h="1143000" extrusionOk="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5"/>
              <a:buFont typeface="Arial"/>
              <a:buNone/>
            </a:pPr>
            <a:endParaRPr sz="19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5"/>
          <p:cNvSpPr/>
          <p:nvPr/>
        </p:nvSpPr>
        <p:spPr>
          <a:xfrm>
            <a:off x="0" y="1260475"/>
            <a:ext cx="10693400" cy="5966248"/>
          </a:xfrm>
          <a:custGeom>
            <a:avLst/>
            <a:gdLst/>
            <a:ahLst/>
            <a:cxnLst/>
            <a:rect l="l" t="t" r="r" b="b"/>
            <a:pathLst>
              <a:path w="9144000" h="1143000" extrusionOk="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5"/>
              <a:buFont typeface="Arial"/>
              <a:buNone/>
            </a:pPr>
            <a:endParaRPr sz="19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5"/>
          <p:cNvSpPr txBox="1">
            <a:spLocks noGrp="1"/>
          </p:cNvSpPr>
          <p:nvPr>
            <p:ph type="title"/>
          </p:nvPr>
        </p:nvSpPr>
        <p:spPr>
          <a:xfrm>
            <a:off x="448530" y="40896"/>
            <a:ext cx="9796341" cy="108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529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body" idx="1"/>
          </p:nvPr>
        </p:nvSpPr>
        <p:spPr>
          <a:xfrm>
            <a:off x="1" y="1260475"/>
            <a:ext cx="10693400" cy="475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88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5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65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86690" marR="0" lvl="0" indent="0" algn="l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86690" marR="0" lvl="1" indent="0" algn="l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6690" marR="0" lvl="2" indent="0" algn="l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6690" marR="0" lvl="3" indent="0" algn="l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6690" marR="0" lvl="4" indent="0" algn="l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86690" marR="0" lvl="5" indent="0" algn="l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86690" marR="0" lvl="6" indent="0" algn="l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86690" marR="0" lvl="7" indent="0" algn="l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6690" marR="0" lvl="8" indent="0" algn="l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669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22" name="Google Shape;22;p25"/>
          <p:cNvSpPr txBox="1"/>
          <p:nvPr/>
        </p:nvSpPr>
        <p:spPr>
          <a:xfrm>
            <a:off x="0" y="7319964"/>
            <a:ext cx="10693400" cy="381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0793" marR="0" lvl="0" indent="0" algn="ctr" rtl="0">
              <a:lnSpc>
                <a:spcPct val="1322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</a:pPr>
            <a:r>
              <a:rPr lang="fr-FR" sz="1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© 2021-2022 – ESPRIT – Module Architecture des SI II (Spring) étude de cas gestion magasin-stock</a:t>
            </a:r>
            <a:endParaRPr sz="1000" b="1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/>
          <p:nvPr/>
        </p:nvSpPr>
        <p:spPr>
          <a:xfrm>
            <a:off x="0" y="7226723"/>
            <a:ext cx="10693400" cy="336127"/>
          </a:xfrm>
          <a:custGeom>
            <a:avLst/>
            <a:gdLst/>
            <a:ahLst/>
            <a:cxnLst/>
            <a:rect l="l" t="t" r="r" b="b"/>
            <a:pathLst>
              <a:path w="9144000" h="1143000" extrusionOk="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5"/>
              <a:buFont typeface="Arial"/>
              <a:buNone/>
            </a:pPr>
            <a:endParaRPr sz="19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4"/>
          <p:cNvSpPr txBox="1">
            <a:spLocks noGrp="1"/>
          </p:cNvSpPr>
          <p:nvPr>
            <p:ph type="title"/>
          </p:nvPr>
        </p:nvSpPr>
        <p:spPr>
          <a:xfrm>
            <a:off x="448530" y="40896"/>
            <a:ext cx="979634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4"/>
          <p:cNvSpPr txBox="1">
            <a:spLocks noGrp="1"/>
          </p:cNvSpPr>
          <p:nvPr>
            <p:ph type="body" idx="1"/>
          </p:nvPr>
        </p:nvSpPr>
        <p:spPr>
          <a:xfrm>
            <a:off x="305594" y="1554306"/>
            <a:ext cx="1008221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65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86690" marR="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86690" marR="0" lvl="1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6690" marR="0" lvl="2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6690" marR="0" lvl="3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6690" marR="0" lvl="4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86690" marR="0" lvl="5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86690" marR="0" lvl="6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86690" marR="0" lvl="7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6690" marR="0" lvl="8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669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14" name="Google Shape;14;p24"/>
          <p:cNvSpPr txBox="1"/>
          <p:nvPr/>
        </p:nvSpPr>
        <p:spPr>
          <a:xfrm>
            <a:off x="0" y="7319964"/>
            <a:ext cx="10693400" cy="242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0793" marR="0" lvl="0" indent="0" algn="ctr" rtl="0">
              <a:lnSpc>
                <a:spcPct val="1322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</a:pPr>
            <a:r>
              <a:rPr lang="fr-FR" sz="1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© 2021-2022 – ESPRIT – Module Architecture des SI II (Spring) étude de cas gestion magasin-stock</a:t>
            </a:r>
            <a:endParaRPr sz="1000" b="1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"/>
          <p:cNvSpPr txBox="1"/>
          <p:nvPr/>
        </p:nvSpPr>
        <p:spPr>
          <a:xfrm>
            <a:off x="-9054" y="156246"/>
            <a:ext cx="106935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0975" rIns="0" bIns="0" anchor="t" anchorCtr="0">
            <a:spAutoFit/>
          </a:bodyPr>
          <a:lstStyle/>
          <a:p>
            <a:pPr marL="1260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2677481" y="5941665"/>
            <a:ext cx="53467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1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UP ASI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1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Bureaux E204 | E304 </a:t>
            </a:r>
            <a:endParaRPr sz="1800" b="1" i="0" u="none" strike="noStrike" cap="non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1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Année Universitaire : 2025-2026</a:t>
            </a:r>
            <a:endParaRPr sz="1800" b="1" i="0" u="none" strike="noStrike" cap="non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C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" name="Google Shape;30;p1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65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4070" y="2744334"/>
            <a:ext cx="106935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fr-FR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des SI II (Spring Framework) 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fr-FR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Etude de cas gestion “Gestion Foyer”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3" name="Google Shape;33;p1"/>
          <p:cNvPicPr preferRelativeResize="0"/>
          <p:nvPr/>
        </p:nvPicPr>
        <p:blipFill rotWithShape="1">
          <a:blip r:embed="rId3">
            <a:alphaModFix/>
          </a:blip>
          <a:srcRect l="7025" t="33813" r="7085" b="33090"/>
          <a:stretch/>
        </p:blipFill>
        <p:spPr>
          <a:xfrm>
            <a:off x="160375" y="76200"/>
            <a:ext cx="2378875" cy="117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2975c23ed04_1_78"/>
          <p:cNvSpPr txBox="1"/>
          <p:nvPr/>
        </p:nvSpPr>
        <p:spPr>
          <a:xfrm>
            <a:off x="-9054" y="156246"/>
            <a:ext cx="106935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0975" rIns="0" bIns="0" anchor="t" anchorCtr="0">
            <a:spAutoFit/>
          </a:bodyPr>
          <a:lstStyle/>
          <a:p>
            <a:pPr marL="12604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2975c23ed04_1_78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2</a:t>
            </a:fld>
            <a:endParaRPr/>
          </a:p>
        </p:txBody>
      </p:sp>
      <p:sp>
        <p:nvSpPr>
          <p:cNvPr id="41" name="Google Shape;41;g2975c23ed04_1_78"/>
          <p:cNvSpPr/>
          <p:nvPr/>
        </p:nvSpPr>
        <p:spPr>
          <a:xfrm>
            <a:off x="-9055" y="3299534"/>
            <a:ext cx="106935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2975c23ed04_1_78"/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" name="Google Shape;43;g2975c23ed04_1_78"/>
          <p:cNvSpPr txBox="1"/>
          <p:nvPr/>
        </p:nvSpPr>
        <p:spPr>
          <a:xfrm>
            <a:off x="672800" y="392475"/>
            <a:ext cx="100206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fr-FR" sz="35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Etude De Cas : Gestion Foyer </a:t>
            </a:r>
            <a:r>
              <a:rPr lang="fr-FR" sz="3500" b="0" i="0" u="none" strike="noStrike" cap="non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(Énoncé)</a:t>
            </a:r>
            <a:endParaRPr sz="3500" b="0" i="0" u="none" strike="noStrike" cap="none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" name="Google Shape;44;g2975c23ed04_1_78"/>
          <p:cNvSpPr txBox="1"/>
          <p:nvPr/>
        </p:nvSpPr>
        <p:spPr>
          <a:xfrm>
            <a:off x="393125" y="1516325"/>
            <a:ext cx="9846600" cy="51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1" i="0" u="none" strike="noStrike" cap="non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Objectifs </a:t>
            </a:r>
            <a:endParaRPr sz="2400" b="1" i="0" u="none" strike="noStrike" cap="none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Développer et déployer une application web d’entreprise en utilisant le Framework Spring.</a:t>
            </a:r>
            <a:endParaRPr sz="20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entury Gothic"/>
              <a:buChar char="●"/>
            </a:pPr>
            <a:r>
              <a:rPr lang="fr-FR" sz="2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Une application de gestion de foyer universitaire visant à simplifier le processus de réservation des chambres pour les étudiants.</a:t>
            </a:r>
            <a:endParaRPr sz="20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entury Gothic"/>
              <a:buChar char="●"/>
            </a:pPr>
            <a:r>
              <a:rPr lang="fr-FR" sz="2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relation bidirectionnelle </a:t>
            </a:r>
            <a:r>
              <a:rPr lang="fr-FR" sz="2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Universite - Foyer</a:t>
            </a:r>
            <a:r>
              <a:rPr lang="fr-FR" sz="2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modélise le fait qu’un foyer peut être associé à une seule universite et qu’une université ne peut avoir qu’un seul foyer (foyer est le child). </a:t>
            </a:r>
            <a:endParaRPr sz="20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entury Gothic"/>
              <a:buChar char="●"/>
            </a:pPr>
            <a:r>
              <a:rPr lang="fr-FR"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relation bidirectionnelle </a:t>
            </a:r>
            <a:r>
              <a:rPr lang="fr-FR" sz="20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Reservation - Etudiant </a:t>
            </a:r>
            <a:r>
              <a:rPr lang="fr-FR"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modélise le fait qu’un étudiant peut avoir plusieurs réservations  et qu’une réservation peut être associé à une liste des étudiants (Etudiant est le child). </a:t>
            </a:r>
            <a:endParaRPr sz="20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65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3</a:t>
            </a:fld>
            <a:endParaRPr/>
          </a:p>
        </p:txBody>
      </p:sp>
      <p:pic>
        <p:nvPicPr>
          <p:cNvPr id="50" name="Google Shape;50;p5" descr="Une image contenant texte, capture d’écran, diagramme, Police&#10;&#10;Description générée automatiquement"/>
          <p:cNvPicPr preferRelativeResize="0"/>
          <p:nvPr/>
        </p:nvPicPr>
        <p:blipFill rotWithShape="1">
          <a:blip r:embed="rId3">
            <a:alphaModFix/>
          </a:blip>
          <a:srcRect t="-6963"/>
          <a:stretch/>
        </p:blipFill>
        <p:spPr>
          <a:xfrm>
            <a:off x="327575" y="1331875"/>
            <a:ext cx="10033876" cy="562847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5"/>
          <p:cNvSpPr txBox="1"/>
          <p:nvPr/>
        </p:nvSpPr>
        <p:spPr>
          <a:xfrm>
            <a:off x="3429000" y="6864000"/>
            <a:ext cx="3345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-FR" sz="1600" b="1" i="1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Figure 1 : Diagramme de classes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1797025" y="373750"/>
            <a:ext cx="70950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fr-FR" sz="35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Etude De Cas : Gestion Foyer </a:t>
            </a:r>
            <a:endParaRPr sz="35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7"/>
          <p:cNvSpPr txBox="1">
            <a:spLocks noGrp="1"/>
          </p:cNvSpPr>
          <p:nvPr>
            <p:ph type="title"/>
          </p:nvPr>
        </p:nvSpPr>
        <p:spPr>
          <a:xfrm>
            <a:off x="-83375" y="354738"/>
            <a:ext cx="10693500" cy="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Travail à faire</a:t>
            </a:r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body" idx="1"/>
          </p:nvPr>
        </p:nvSpPr>
        <p:spPr>
          <a:xfrm>
            <a:off x="78923" y="1485100"/>
            <a:ext cx="10531200" cy="3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200" b="1" u="sng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1" u="sng"/>
              <a:t>Partie 1 Spring Data JPA – Première entité</a:t>
            </a:r>
            <a:endParaRPr sz="25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1" u="sng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1" u="sng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fr-FR" sz="2500"/>
              <a:t>Créer les entités se trouvant dans le diagramme des classes (sans les associations) et vérifier qu’ils ont été ajoutés avec succès dans la base de données.</a:t>
            </a:r>
            <a:endParaRPr sz="3588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200" b="1" u="sng"/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65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4</a:t>
            </a:fld>
            <a:endParaRPr/>
          </a:p>
        </p:txBody>
      </p:sp>
      <p:sp>
        <p:nvSpPr>
          <p:cNvPr id="61" name="Google Shape;61;p27"/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 txBox="1">
            <a:spLocks noGrp="1"/>
          </p:cNvSpPr>
          <p:nvPr>
            <p:ph type="title"/>
          </p:nvPr>
        </p:nvSpPr>
        <p:spPr>
          <a:xfrm>
            <a:off x="0" y="425015"/>
            <a:ext cx="10693500" cy="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Travail à faire</a:t>
            </a:r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body" idx="1"/>
          </p:nvPr>
        </p:nvSpPr>
        <p:spPr>
          <a:xfrm>
            <a:off x="81098" y="1650525"/>
            <a:ext cx="10531200" cy="4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200" b="1" u="sng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entury Gothic"/>
              <a:buNone/>
            </a:pPr>
            <a:r>
              <a:rPr lang="fr-FR" sz="2500" b="1" u="sng"/>
              <a:t>Partie 2 Spring Data JPA – Le mapping des différentes associations</a:t>
            </a:r>
            <a:r>
              <a:rPr lang="fr-FR" sz="2500" b="1" i="1" u="sng"/>
              <a:t> </a:t>
            </a:r>
            <a:endParaRPr sz="2500" b="1" u="sng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40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fr-FR" sz="2500"/>
              <a:t>Supprimer les tables existantes dans la base de données.</a:t>
            </a:r>
            <a:endParaRPr sz="25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50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fr-FR" sz="2500"/>
              <a:t>Créer les associations entre les différentes entités.</a:t>
            </a:r>
            <a:endParaRPr sz="25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50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fr-FR" sz="2500"/>
              <a:t>Générer la base de données de nouveau  et vérifier que le nombre de tables créées est correct.</a:t>
            </a:r>
            <a:endParaRPr sz="25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1" u="sng"/>
              <a:t> </a:t>
            </a:r>
            <a:endParaRPr sz="25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65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5</a:t>
            </a:fld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0" y="353801"/>
            <a:ext cx="10693400" cy="543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Travail à faire</a:t>
            </a:r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162198" y="1447676"/>
            <a:ext cx="10531200" cy="7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1" u="sng"/>
              <a:t>Partie 3 Spring Data JPA  CRUD Repository–Le langage JPQL - JPA Repository </a:t>
            </a:r>
            <a:endParaRPr sz="2500" b="1" u="sng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200" b="1" u="sng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200" b="1" u="sng"/>
              <a:t> </a:t>
            </a: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/>
              <a:t>Créer les CRUD des différentes </a:t>
            </a:r>
            <a:r>
              <a:rPr lang="fr-FR" sz="2500" b="1"/>
              <a:t>entités indiquées dans les slides suivants en respectant les signatures suivantes</a:t>
            </a:r>
            <a:endParaRPr sz="25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500" b="1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1" u="sng">
                <a:solidFill>
                  <a:srgbClr val="E36C09"/>
                </a:solidFill>
              </a:rPr>
              <a:t>Entité Foyer</a:t>
            </a:r>
            <a:endParaRPr sz="2400" b="1" u="sng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/>
              <a:t>List&lt;Foyer&gt; </a:t>
            </a:r>
            <a:r>
              <a:rPr lang="fr-FR" sz="2000"/>
              <a:t>retrieveAllFoyers();</a:t>
            </a: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/>
              <a:t>Foyer </a:t>
            </a:r>
            <a:r>
              <a:rPr lang="fr-FR" sz="2000"/>
              <a:t>addFoyer (Foyer f);</a:t>
            </a: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/>
              <a:t>Foyer </a:t>
            </a:r>
            <a:r>
              <a:rPr lang="fr-FR" sz="2000"/>
              <a:t>updateFoyer (Foyer f);</a:t>
            </a: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/>
              <a:t>Foyer </a:t>
            </a:r>
            <a:r>
              <a:rPr lang="fr-FR" sz="2000"/>
              <a:t>retrieveFoyer (long  idFoyer);</a:t>
            </a: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/>
              <a:t>void</a:t>
            </a:r>
            <a:r>
              <a:rPr lang="fr-FR" sz="2000"/>
              <a:t> removeFoyer (long idFoyer);</a:t>
            </a: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200" b="1" u="sng"/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65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6</a:t>
            </a:fld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>
            <a:spLocks noGrp="1"/>
          </p:cNvSpPr>
          <p:nvPr>
            <p:ph type="title"/>
          </p:nvPr>
        </p:nvSpPr>
        <p:spPr>
          <a:xfrm>
            <a:off x="0" y="353801"/>
            <a:ext cx="10693400" cy="543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Travail à faire</a:t>
            </a:r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body" idx="1"/>
          </p:nvPr>
        </p:nvSpPr>
        <p:spPr>
          <a:xfrm>
            <a:off x="162123" y="1260476"/>
            <a:ext cx="10531200" cy="70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500" b="1" u="sng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1" u="sng"/>
              <a:t>Partie 3 Spring Data JPA  CRUD Repository–Le langage JPQL - JPA Repository </a:t>
            </a:r>
            <a:endParaRPr sz="2500" b="1" u="sng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200" b="1" u="sng"/>
              <a:t> </a:t>
            </a: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/>
              <a:t>Créer les CRUD des différentes </a:t>
            </a:r>
            <a:r>
              <a:rPr lang="fr-FR" sz="2500" b="1"/>
              <a:t>entités indiquées dans les slides suivants en respectant les signatures suivantes</a:t>
            </a:r>
            <a:endParaRPr sz="25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1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 i="0" u="sng">
                <a:solidFill>
                  <a:srgbClr val="E36C0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Entité Etudiant</a:t>
            </a:r>
            <a:endParaRPr sz="2000" b="0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2000" b="0"/>
            </a:br>
            <a:r>
              <a:rPr lang="fr-FR" sz="2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List&lt;Etudiant&gt; </a:t>
            </a:r>
            <a:r>
              <a:rPr lang="fr-FR" sz="2000" b="0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retrieveAllEtudiants();</a:t>
            </a:r>
            <a:endParaRPr sz="2000" b="0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2000" b="0"/>
            </a:br>
            <a:r>
              <a:rPr lang="fr-FR" sz="2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List&lt;Etudiant&gt; </a:t>
            </a:r>
            <a:r>
              <a:rPr lang="fr-FR" sz="2000" b="0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addEtudiants (List&lt;Etudiant&gt; etudiants);</a:t>
            </a:r>
            <a:endParaRPr sz="2000" b="0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2000" b="0"/>
            </a:br>
            <a:r>
              <a:rPr lang="fr-FR" sz="2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Etudiant </a:t>
            </a:r>
            <a:r>
              <a:rPr lang="fr-FR" sz="2000" b="0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updateEtudiant (Etudiant e);</a:t>
            </a:r>
            <a:endParaRPr sz="2000" b="0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2000" b="0"/>
            </a:br>
            <a:r>
              <a:rPr lang="fr-FR" sz="2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Etudiant </a:t>
            </a:r>
            <a:r>
              <a:rPr lang="fr-FR" sz="2000" b="0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retrieveEtudiant(</a:t>
            </a:r>
            <a:r>
              <a:rPr lang="fr-FR" sz="2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long</a:t>
            </a:r>
            <a:r>
              <a:rPr lang="fr-FR" sz="2000" b="0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idEtudiant);</a:t>
            </a:r>
            <a:endParaRPr sz="2000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void</a:t>
            </a:r>
            <a:r>
              <a:rPr lang="fr-FR" sz="2000" b="0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removeEtudiant(</a:t>
            </a:r>
            <a:r>
              <a:rPr lang="fr-FR" sz="2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long</a:t>
            </a:r>
            <a:r>
              <a:rPr lang="fr-FR" sz="2000" b="0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idEtudiant);</a:t>
            </a: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200" b="1" u="sng"/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65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7</a:t>
            </a:fld>
            <a:endParaRPr/>
          </a:p>
        </p:txBody>
      </p:sp>
      <p:sp>
        <p:nvSpPr>
          <p:cNvPr id="85" name="Google Shape;85;p28"/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 txBox="1">
            <a:spLocks noGrp="1"/>
          </p:cNvSpPr>
          <p:nvPr>
            <p:ph type="title"/>
          </p:nvPr>
        </p:nvSpPr>
        <p:spPr>
          <a:xfrm>
            <a:off x="0" y="377846"/>
            <a:ext cx="10693500" cy="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Travail à faire</a:t>
            </a:r>
            <a:endParaRPr/>
          </a:p>
        </p:txBody>
      </p:sp>
      <p:sp>
        <p:nvSpPr>
          <p:cNvPr id="91" name="Google Shape;91;p8"/>
          <p:cNvSpPr txBox="1">
            <a:spLocks noGrp="1"/>
          </p:cNvSpPr>
          <p:nvPr>
            <p:ph type="body" idx="1"/>
          </p:nvPr>
        </p:nvSpPr>
        <p:spPr>
          <a:xfrm>
            <a:off x="162123" y="1260476"/>
            <a:ext cx="10531200" cy="74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200" b="1" u="sng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1" u="sng"/>
              <a:t>Partie 3 Spring Data JPA  CRUD Repository–Le langage JPQL - JPA Repository  </a:t>
            </a:r>
            <a:endParaRPr sz="25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5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/>
              <a:t>Créer les CRUD des différentes </a:t>
            </a:r>
            <a:r>
              <a:rPr lang="fr-FR" sz="2500" b="1"/>
              <a:t>entités indiqués dans les slides suivants en respectant les signatures suivantes</a:t>
            </a:r>
            <a:endParaRPr sz="25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500" b="1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 u="sng">
                <a:solidFill>
                  <a:srgbClr val="E36C09"/>
                </a:solidFill>
              </a:rPr>
              <a:t>Entité Bloc</a:t>
            </a: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endParaRPr sz="2000" b="1" u="sng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/>
              <a:t>List&lt;Bloc&gt; </a:t>
            </a:r>
            <a:r>
              <a:rPr lang="fr-FR" sz="2000"/>
              <a:t>retrieveBlocs();</a:t>
            </a: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/>
              <a:t>Bloc</a:t>
            </a:r>
            <a:r>
              <a:rPr lang="fr-FR" sz="2000"/>
              <a:t> updateBloc (Bloc  bloc);</a:t>
            </a: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/>
              <a:t>Bloc </a:t>
            </a:r>
            <a:r>
              <a:rPr lang="fr-FR" sz="2000"/>
              <a:t>addBloc (Bloc bloc); </a:t>
            </a: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/>
              <a:t>Bloc</a:t>
            </a:r>
            <a:r>
              <a:rPr lang="fr-FR" sz="2000"/>
              <a:t> retrieveBloc (long  idBloc);</a:t>
            </a: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/>
              <a:t>void</a:t>
            </a:r>
            <a:r>
              <a:rPr lang="fr-FR" sz="2000"/>
              <a:t> removeBloc (long idBloc);</a:t>
            </a: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200" b="1" u="sng"/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8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65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8</a:t>
            </a:fld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 txBox="1">
            <a:spLocks noGrp="1"/>
          </p:cNvSpPr>
          <p:nvPr>
            <p:ph type="title"/>
          </p:nvPr>
        </p:nvSpPr>
        <p:spPr>
          <a:xfrm>
            <a:off x="-2225" y="377846"/>
            <a:ext cx="10693500" cy="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Travail à faire</a:t>
            </a: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body" idx="1"/>
          </p:nvPr>
        </p:nvSpPr>
        <p:spPr>
          <a:xfrm>
            <a:off x="162123" y="1260476"/>
            <a:ext cx="10531200" cy="72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200" b="1" u="sng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1" u="sng"/>
              <a:t>Partie 3 Spring Data JPA  CRUD Repository–Le langage JPQL - JPA Repository  </a:t>
            </a:r>
            <a:endParaRPr sz="25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5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/>
              <a:t>Créer les CRUD des différentes </a:t>
            </a:r>
            <a:r>
              <a:rPr lang="fr-FR" sz="2500" b="1"/>
              <a:t>entités indiqués dans les slides suivants en respectant les signatures suivantes</a:t>
            </a:r>
            <a:endParaRPr sz="25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</a:pPr>
            <a:endParaRPr sz="28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 u="sng">
                <a:solidFill>
                  <a:srgbClr val="E36C09"/>
                </a:solidFill>
              </a:rPr>
              <a:t>Entité Université</a:t>
            </a:r>
            <a:endParaRPr sz="2000" b="1" u="sng">
              <a:solidFill>
                <a:srgbClr val="E36C09"/>
              </a:solidFill>
            </a:endParaRPr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endParaRPr sz="2000" b="1" u="sng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/>
              <a:t>List&lt;Universite&gt; </a:t>
            </a:r>
            <a:r>
              <a:rPr lang="fr-FR" sz="2000"/>
              <a:t>retrieveAllUniversities();</a:t>
            </a: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/>
              <a:t>Universite</a:t>
            </a:r>
            <a:r>
              <a:rPr lang="fr-FR" sz="2000"/>
              <a:t> addUniversite (Universite u);</a:t>
            </a: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/>
              <a:t>Universite</a:t>
            </a:r>
            <a:r>
              <a:rPr lang="fr-FR" sz="2000"/>
              <a:t> updateUniversite (Universite u);</a:t>
            </a: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/>
              <a:t>Universite</a:t>
            </a:r>
            <a:r>
              <a:rPr lang="fr-FR" sz="2000"/>
              <a:t> retrieveUniversite (long idUniversite);</a:t>
            </a: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200" b="1" u="sng"/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65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9</a:t>
            </a:fld>
            <a:endParaRPr/>
          </a:p>
        </p:txBody>
      </p:sp>
      <p:sp>
        <p:nvSpPr>
          <p:cNvPr id="101" name="Google Shape;101;p9"/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 txBox="1">
            <a:spLocks noGrp="1"/>
          </p:cNvSpPr>
          <p:nvPr>
            <p:ph type="title"/>
          </p:nvPr>
        </p:nvSpPr>
        <p:spPr>
          <a:xfrm>
            <a:off x="0" y="396571"/>
            <a:ext cx="10693500" cy="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Travail à faire</a:t>
            </a: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162123" y="1260476"/>
            <a:ext cx="10531200" cy="72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200" b="1" u="sng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1" u="sng"/>
              <a:t>Partie 3 Spring Data JPA  CRUD Repository–Le langage JPQL - JPA Repository  </a:t>
            </a:r>
            <a:endParaRPr sz="25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5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/>
              <a:t>Créer les CRUD des différentes </a:t>
            </a:r>
            <a:r>
              <a:rPr lang="fr-FR" sz="2500" b="1"/>
              <a:t>entités indiqués dans les slides suivants en respectant les signatures suivantes</a:t>
            </a:r>
            <a:endParaRPr sz="25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</a:pPr>
            <a:endParaRPr sz="28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 u="sng">
                <a:solidFill>
                  <a:srgbClr val="E36C09"/>
                </a:solidFill>
              </a:rPr>
              <a:t>Entité Chambre</a:t>
            </a: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endParaRPr sz="2000" b="1" u="sng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/>
              <a:t>List&lt;Chambre&gt; </a:t>
            </a:r>
            <a:r>
              <a:rPr lang="fr-FR" sz="2000"/>
              <a:t>retrieveAllChambres();</a:t>
            </a: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/>
              <a:t>Chambre</a:t>
            </a:r>
            <a:r>
              <a:rPr lang="fr-FR" sz="2000"/>
              <a:t>  addChambre(Chambre c); </a:t>
            </a: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/>
              <a:t>Chambre</a:t>
            </a:r>
            <a:r>
              <a:rPr lang="fr-FR" sz="2000"/>
              <a:t> updateChambre (Chambre  c);</a:t>
            </a: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/>
              <a:t>Chambre</a:t>
            </a:r>
            <a:r>
              <a:rPr lang="fr-FR" sz="2000"/>
              <a:t> retrieveChambre (long idChambre);</a:t>
            </a: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200" b="1" u="sng"/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65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10</a:t>
            </a:fld>
            <a:endParaRPr/>
          </a:p>
        </p:txBody>
      </p:sp>
      <p:sp>
        <p:nvSpPr>
          <p:cNvPr id="109" name="Google Shape;109;p10"/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>
            <a:spLocks noGrp="1"/>
          </p:cNvSpPr>
          <p:nvPr>
            <p:ph type="title"/>
          </p:nvPr>
        </p:nvSpPr>
        <p:spPr>
          <a:xfrm>
            <a:off x="0" y="353801"/>
            <a:ext cx="10693400" cy="543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Travail à faire</a:t>
            </a:r>
            <a:endParaRPr/>
          </a:p>
        </p:txBody>
      </p:sp>
      <p:sp>
        <p:nvSpPr>
          <p:cNvPr id="115" name="Google Shape;115;p11"/>
          <p:cNvSpPr txBox="1">
            <a:spLocks noGrp="1"/>
          </p:cNvSpPr>
          <p:nvPr>
            <p:ph type="body" idx="1"/>
          </p:nvPr>
        </p:nvSpPr>
        <p:spPr>
          <a:xfrm>
            <a:off x="162123" y="1260476"/>
            <a:ext cx="10531200" cy="6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200" b="1" u="sng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1" u="sng"/>
              <a:t>Partie 3 Spring Data JPA  CRUD Repository–Le langage JPQL - JPA Repository  </a:t>
            </a:r>
            <a:endParaRPr sz="25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5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/>
              <a:t>Créer les CRUD des différentes </a:t>
            </a:r>
            <a:r>
              <a:rPr lang="fr-FR" sz="2500" b="1"/>
              <a:t>entités indiqués dans les slides suivants en respectant les signatures suivantes</a:t>
            </a:r>
            <a:endParaRPr sz="25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500" b="1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 u="sng">
                <a:solidFill>
                  <a:srgbClr val="E36C09"/>
                </a:solidFill>
              </a:rPr>
              <a:t>Entité Réservation</a:t>
            </a:r>
            <a:endParaRPr sz="2000" b="1" u="sng">
              <a:solidFill>
                <a:srgbClr val="E36C09"/>
              </a:solidFill>
            </a:endParaRPr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2000" b="1" u="sng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/>
              <a:t>List&lt;Reservation&gt; </a:t>
            </a:r>
            <a:r>
              <a:rPr lang="fr-FR" sz="2000"/>
              <a:t>retrieveAllReservation();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/>
              <a:t>Reservation </a:t>
            </a:r>
            <a:r>
              <a:rPr lang="fr-FR" sz="2000"/>
              <a:t>updateReservation (Reservation  res);</a:t>
            </a: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/>
              <a:t>Reservation </a:t>
            </a:r>
            <a:r>
              <a:rPr lang="fr-FR" sz="2000"/>
              <a:t>retrieveReservation (String idReservation);</a:t>
            </a: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200" b="1" u="sng"/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11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65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11</a:t>
            </a:fld>
            <a:endParaRPr/>
          </a:p>
        </p:txBody>
      </p:sp>
      <p:sp>
        <p:nvSpPr>
          <p:cNvPr id="117" name="Google Shape;117;p11"/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>
            <a:spLocks noGrp="1"/>
          </p:cNvSpPr>
          <p:nvPr>
            <p:ph type="title"/>
          </p:nvPr>
        </p:nvSpPr>
        <p:spPr>
          <a:xfrm>
            <a:off x="-20711" y="317288"/>
            <a:ext cx="10693400" cy="543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Travail à faire</a:t>
            </a:r>
            <a:endParaRPr/>
          </a:p>
        </p:txBody>
      </p:sp>
      <p:sp>
        <p:nvSpPr>
          <p:cNvPr id="123" name="Google Shape;123;p12"/>
          <p:cNvSpPr txBox="1">
            <a:spLocks noGrp="1"/>
          </p:cNvSpPr>
          <p:nvPr>
            <p:ph type="body" idx="1"/>
          </p:nvPr>
        </p:nvSpPr>
        <p:spPr>
          <a:xfrm>
            <a:off x="162198" y="1765900"/>
            <a:ext cx="10531200" cy="23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200" b="1" u="sng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entury Gothic"/>
              <a:buNone/>
            </a:pPr>
            <a:r>
              <a:rPr lang="fr-FR" sz="2500" b="1" u="sng"/>
              <a:t>Partie 4 Spring MVC </a:t>
            </a:r>
            <a:endParaRPr sz="25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endParaRPr sz="2500" b="1" u="sng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None/>
            </a:pPr>
            <a:r>
              <a:rPr lang="fr-FR" sz="2500"/>
              <a:t>Exposer les services implémentés dans la partie 3 avec Postman et/ou Swagger pour les tester.</a:t>
            </a:r>
            <a:endParaRPr sz="25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12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65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12</a:t>
            </a:fld>
            <a:endParaRPr/>
          </a:p>
        </p:txBody>
      </p:sp>
      <p:sp>
        <p:nvSpPr>
          <p:cNvPr id="125" name="Google Shape;125;p12"/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>
            <a:spLocks noGrp="1"/>
          </p:cNvSpPr>
          <p:nvPr>
            <p:ph type="title"/>
          </p:nvPr>
        </p:nvSpPr>
        <p:spPr>
          <a:xfrm>
            <a:off x="-20711" y="317288"/>
            <a:ext cx="10693400" cy="543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Travail à faire</a:t>
            </a:r>
            <a:endParaRPr/>
          </a:p>
        </p:txBody>
      </p:sp>
      <p:sp>
        <p:nvSpPr>
          <p:cNvPr id="131" name="Google Shape;131;p29"/>
          <p:cNvSpPr txBox="1">
            <a:spLocks noGrp="1"/>
          </p:cNvSpPr>
          <p:nvPr>
            <p:ph type="body" idx="1"/>
          </p:nvPr>
        </p:nvSpPr>
        <p:spPr>
          <a:xfrm>
            <a:off x="162198" y="2003525"/>
            <a:ext cx="10531200" cy="492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1" i="0" u="sng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Partie 5 : Services avancés</a:t>
            </a:r>
            <a:endParaRPr sz="2500" b="0" dirty="0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500" dirty="0"/>
          </a:p>
          <a:p>
            <a:pPr marL="114300" lvl="0" indent="-114300"/>
            <a:r>
              <a:rPr lang="fr-FR" sz="2500" dirty="0">
                <a:solidFill>
                  <a:srgbClr val="000000"/>
                </a:solidFill>
              </a:rPr>
              <a:t>Contexte : </a:t>
            </a:r>
            <a:r>
              <a:rPr lang="fr-FR" sz="2500" dirty="0"/>
              <a:t>Si le </a:t>
            </a:r>
            <a:r>
              <a:rPr lang="fr-FR" sz="2500" b="1" dirty="0"/>
              <a:t>Foyer</a:t>
            </a:r>
            <a:r>
              <a:rPr lang="fr-FR" sz="2500" dirty="0"/>
              <a:t> et l’</a:t>
            </a:r>
            <a:r>
              <a:rPr lang="fr-FR" sz="2500" b="1" dirty="0"/>
              <a:t>Université</a:t>
            </a:r>
            <a:r>
              <a:rPr lang="fr-FR" sz="2500" dirty="0"/>
              <a:t> existent déjà dans la base de données, on souhaite </a:t>
            </a:r>
            <a:r>
              <a:rPr lang="fr-FR" sz="2500" b="1" dirty="0"/>
              <a:t>affecter le Foyer à l’Université </a:t>
            </a:r>
            <a:r>
              <a:rPr lang="fr-FR" sz="2500" dirty="0"/>
              <a:t>correspondante.</a:t>
            </a:r>
            <a:endParaRPr sz="2500" b="0" i="0" u="none" strike="noStrik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500" dirty="0">
              <a:solidFill>
                <a:srgbClr val="000000"/>
              </a:solidFill>
            </a:endParaRPr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0" i="0" u="none" strike="noStrik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Créer un service permettant  l’affectation d’un Foyer à une</a:t>
            </a:r>
            <a:r>
              <a:rPr lang="fr-FR" sz="2500" dirty="0">
                <a:solidFill>
                  <a:srgbClr val="000000"/>
                </a:solidFill>
              </a:rPr>
              <a:t> </a:t>
            </a:r>
            <a:r>
              <a:rPr lang="fr-FR" sz="2500" b="0" i="0" u="none" strike="noStrike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Universite</a:t>
            </a:r>
            <a:r>
              <a:rPr lang="fr-FR" sz="2500" b="0" i="0" u="none" strike="noStrik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et exposer le en respectant la signature suivante :</a:t>
            </a:r>
            <a:endParaRPr sz="2500" b="0" dirty="0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2500" b="0" dirty="0"/>
            </a:br>
            <a:r>
              <a:rPr lang="fr-FR" sz="2500" b="1" i="0" u="none" strike="noStrik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public </a:t>
            </a:r>
            <a:r>
              <a:rPr lang="fr-FR" sz="2500" b="1" i="0" u="none" strike="noStrike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Universite</a:t>
            </a:r>
            <a:r>
              <a:rPr lang="fr-FR" sz="2500" b="1" i="0" u="none" strike="noStrik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fr-FR" sz="2500" b="1" i="0" u="none" strike="noStrike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affecterFoyerAUniversite</a:t>
            </a:r>
            <a:r>
              <a:rPr lang="fr-FR" sz="2500" b="1" i="0" u="none" strike="noStrik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(long </a:t>
            </a:r>
            <a:r>
              <a:rPr lang="fr-FR" sz="2500" b="1" i="0" u="none" strike="noStrike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idFoyer</a:t>
            </a:r>
            <a:r>
              <a:rPr lang="fr-FR" sz="2500" b="1" i="0" u="none" strike="noStrik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String </a:t>
            </a:r>
            <a:r>
              <a:rPr lang="fr-FR" sz="2500" b="1" i="0" u="none" strike="noStrike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nomUniversite</a:t>
            </a:r>
            <a:r>
              <a:rPr lang="fr-FR" sz="2500" b="1" i="0" u="none" strike="noStrik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;</a:t>
            </a:r>
            <a:endParaRPr sz="2500" b="0"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1400" dirty="0"/>
            </a:br>
            <a:endParaRPr dirty="0"/>
          </a:p>
        </p:txBody>
      </p:sp>
      <p:sp>
        <p:nvSpPr>
          <p:cNvPr id="132" name="Google Shape;132;p29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65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13</a:t>
            </a:fld>
            <a:endParaRPr/>
          </a:p>
        </p:txBody>
      </p:sp>
      <p:sp>
        <p:nvSpPr>
          <p:cNvPr id="133" name="Google Shape;133;p29"/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D197D0FE-1A57-3415-2139-37FD02882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>
            <a:extLst>
              <a:ext uri="{FF2B5EF4-FFF2-40B4-BE49-F238E27FC236}">
                <a16:creationId xmlns:a16="http://schemas.microsoft.com/office/drawing/2014/main" id="{1614E618-6C46-DE9A-0168-0366B6C90B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711" y="317288"/>
            <a:ext cx="10693400" cy="543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Travail à faire</a:t>
            </a:r>
            <a:endParaRPr/>
          </a:p>
        </p:txBody>
      </p:sp>
      <p:sp>
        <p:nvSpPr>
          <p:cNvPr id="131" name="Google Shape;131;p29">
            <a:extLst>
              <a:ext uri="{FF2B5EF4-FFF2-40B4-BE49-F238E27FC236}">
                <a16:creationId xmlns:a16="http://schemas.microsoft.com/office/drawing/2014/main" id="{A51B6CFA-C261-767E-DD80-AB9B6716AA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198" y="2003525"/>
            <a:ext cx="10531200" cy="470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1" i="0" u="sng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Partie 5 : Services avancés</a:t>
            </a:r>
            <a:endParaRPr sz="2500" b="0" dirty="0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500" dirty="0"/>
          </a:p>
          <a:p>
            <a:pPr marL="114300" lvl="0" indent="-114300"/>
            <a:r>
              <a:rPr lang="fr-FR" sz="2500" dirty="0">
                <a:solidFill>
                  <a:srgbClr val="000000"/>
                </a:solidFill>
              </a:rPr>
              <a:t>Contexte : </a:t>
            </a:r>
            <a:r>
              <a:rPr lang="fr-FR" sz="2500" dirty="0"/>
              <a:t>Nous souhaitons </a:t>
            </a:r>
            <a:r>
              <a:rPr lang="fr-FR" sz="2500" b="1" dirty="0"/>
              <a:t>ajouter un nouveau Foyer</a:t>
            </a:r>
            <a:r>
              <a:rPr lang="fr-FR" sz="2500" dirty="0"/>
              <a:t> et l’affecter à une </a:t>
            </a:r>
            <a:r>
              <a:rPr lang="fr-FR" sz="2500" b="1" dirty="0"/>
              <a:t>Université déjà existante</a:t>
            </a:r>
            <a:r>
              <a:rPr lang="fr-FR" sz="2500" dirty="0"/>
              <a:t> dans la base de données.</a:t>
            </a:r>
          </a:p>
          <a:p>
            <a:pPr marL="114300" lvl="0" indent="-114300"/>
            <a:endParaRPr sz="2500" dirty="0">
              <a:solidFill>
                <a:srgbClr val="000000"/>
              </a:solidFill>
            </a:endParaRPr>
          </a:p>
          <a:p>
            <a:pPr marL="114300" lvl="0" indent="-114300"/>
            <a:r>
              <a:rPr lang="fr-FR" sz="2500" b="0" i="0" u="none" strike="noStrik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Créer un service permettant  </a:t>
            </a:r>
            <a:r>
              <a:rPr lang="fr-FR" sz="2500" dirty="0"/>
              <a:t>à la fois l’ajout du Foyer et son affectation à l’Université correspondante en respectant la signature suivante : </a:t>
            </a:r>
          </a:p>
          <a:p>
            <a:pPr marL="114300" lvl="0" indent="-114300"/>
            <a:br>
              <a:rPr lang="fr-FR" sz="2500" b="0" dirty="0"/>
            </a:br>
            <a:r>
              <a:rPr lang="fr-FR" sz="2500" b="1" dirty="0">
                <a:solidFill>
                  <a:srgbClr val="000000"/>
                </a:solidFill>
              </a:rPr>
              <a:t>public </a:t>
            </a:r>
            <a:r>
              <a:rPr lang="fr-FR" sz="2500" b="1" dirty="0" err="1">
                <a:solidFill>
                  <a:srgbClr val="000000"/>
                </a:solidFill>
              </a:rPr>
              <a:t>Universite</a:t>
            </a:r>
            <a:r>
              <a:rPr lang="fr-FR" sz="2500" b="1" dirty="0">
                <a:solidFill>
                  <a:srgbClr val="000000"/>
                </a:solidFill>
              </a:rPr>
              <a:t> </a:t>
            </a:r>
            <a:r>
              <a:rPr lang="fr-FR" sz="2500" b="1" dirty="0" err="1">
                <a:solidFill>
                  <a:srgbClr val="000000"/>
                </a:solidFill>
              </a:rPr>
              <a:t>addFoyerEtAffecterAUniversite</a:t>
            </a:r>
            <a:r>
              <a:rPr lang="fr-FR" sz="2500" b="1" dirty="0">
                <a:solidFill>
                  <a:srgbClr val="000000"/>
                </a:solidFill>
              </a:rPr>
              <a:t>(Foyer </a:t>
            </a:r>
            <a:r>
              <a:rPr lang="fr-FR" sz="2500" b="1" dirty="0" err="1">
                <a:solidFill>
                  <a:srgbClr val="000000"/>
                </a:solidFill>
              </a:rPr>
              <a:t>foyer</a:t>
            </a:r>
            <a:r>
              <a:rPr lang="fr-FR" sz="2500" b="1" dirty="0">
                <a:solidFill>
                  <a:srgbClr val="000000"/>
                </a:solidFill>
              </a:rPr>
              <a:t>, Long </a:t>
            </a:r>
            <a:r>
              <a:rPr lang="fr-FR" sz="2500" b="1" dirty="0" err="1">
                <a:solidFill>
                  <a:srgbClr val="000000"/>
                </a:solidFill>
              </a:rPr>
              <a:t>idUniversite</a:t>
            </a:r>
            <a:r>
              <a:rPr lang="fr-FR" sz="2500" b="1" dirty="0">
                <a:solidFill>
                  <a:srgbClr val="000000"/>
                </a:solidFill>
              </a:rPr>
              <a:t>);</a:t>
            </a:r>
            <a:br>
              <a:rPr lang="fr-FR" sz="1400" dirty="0"/>
            </a:br>
            <a:endParaRPr dirty="0"/>
          </a:p>
        </p:txBody>
      </p:sp>
      <p:sp>
        <p:nvSpPr>
          <p:cNvPr id="132" name="Google Shape;132;p29">
            <a:extLst>
              <a:ext uri="{FF2B5EF4-FFF2-40B4-BE49-F238E27FC236}">
                <a16:creationId xmlns:a16="http://schemas.microsoft.com/office/drawing/2014/main" id="{2C9B9523-7A75-2949-2535-56A07B6281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65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14</a:t>
            </a:fld>
            <a:endParaRPr/>
          </a:p>
        </p:txBody>
      </p:sp>
      <p:sp>
        <p:nvSpPr>
          <p:cNvPr id="133" name="Google Shape;133;p29">
            <a:extLst>
              <a:ext uri="{FF2B5EF4-FFF2-40B4-BE49-F238E27FC236}">
                <a16:creationId xmlns:a16="http://schemas.microsoft.com/office/drawing/2014/main" id="{BD54D99F-D08C-74DA-7587-ADCED388A9B5}"/>
              </a:ext>
            </a:extLst>
          </p:cNvPr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557374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C94641CF-519C-F96C-8D0D-82D792022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>
            <a:extLst>
              <a:ext uri="{FF2B5EF4-FFF2-40B4-BE49-F238E27FC236}">
                <a16:creationId xmlns:a16="http://schemas.microsoft.com/office/drawing/2014/main" id="{E1897A41-CC65-FDA8-A6AD-A5EB838F92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711" y="317288"/>
            <a:ext cx="10693400" cy="543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Travail à faire</a:t>
            </a:r>
            <a:endParaRPr/>
          </a:p>
        </p:txBody>
      </p:sp>
      <p:sp>
        <p:nvSpPr>
          <p:cNvPr id="131" name="Google Shape;131;p29">
            <a:extLst>
              <a:ext uri="{FF2B5EF4-FFF2-40B4-BE49-F238E27FC236}">
                <a16:creationId xmlns:a16="http://schemas.microsoft.com/office/drawing/2014/main" id="{9259BDB0-256E-5901-223B-522AD59DFC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198" y="2003525"/>
            <a:ext cx="10531200" cy="316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1" i="0" u="sng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Partie 5 : Services avancés</a:t>
            </a:r>
            <a:endParaRPr sz="2500" b="0" dirty="0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500" dirty="0"/>
          </a:p>
          <a:p>
            <a:pPr marL="114300" lvl="0" indent="-114300"/>
            <a:r>
              <a:rPr lang="fr-FR" sz="2500" dirty="0">
                <a:solidFill>
                  <a:srgbClr val="000000"/>
                </a:solidFill>
              </a:rPr>
              <a:t>Contexte : N</a:t>
            </a:r>
            <a:r>
              <a:rPr lang="fr-FR" sz="2500" dirty="0"/>
              <a:t>ous souhaitons ajouter l'université, le foyer et affecter ce foyer à cette université associée en utilisant les cascades,</a:t>
            </a:r>
          </a:p>
          <a:p>
            <a:pPr marL="114300" lvl="0" indent="-114300"/>
            <a:r>
              <a:rPr lang="fr-FR" sz="2500" b="0" i="0" u="none" strike="noStrik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 respectant la signature suivante :</a:t>
            </a:r>
            <a:endParaRPr sz="2500" b="0" dirty="0"/>
          </a:p>
          <a:p>
            <a:pPr marL="114300" lvl="0" indent="-114300"/>
            <a:br>
              <a:rPr lang="fr-FR" sz="2500" b="0" dirty="0"/>
            </a:br>
            <a:r>
              <a:rPr lang="fr-FR" sz="2500" b="1" dirty="0">
                <a:solidFill>
                  <a:srgbClr val="000000"/>
                </a:solidFill>
              </a:rPr>
              <a:t>public </a:t>
            </a:r>
            <a:r>
              <a:rPr lang="fr-FR" sz="2500" b="1" dirty="0" err="1">
                <a:solidFill>
                  <a:srgbClr val="000000"/>
                </a:solidFill>
              </a:rPr>
              <a:t>Universite</a:t>
            </a:r>
            <a:r>
              <a:rPr lang="fr-FR" sz="2500" b="1" dirty="0">
                <a:solidFill>
                  <a:srgbClr val="000000"/>
                </a:solidFill>
              </a:rPr>
              <a:t> </a:t>
            </a:r>
            <a:r>
              <a:rPr lang="fr-FR" sz="2500" b="1" dirty="0" err="1">
                <a:solidFill>
                  <a:srgbClr val="000000"/>
                </a:solidFill>
              </a:rPr>
              <a:t>addUniversite</a:t>
            </a:r>
            <a:r>
              <a:rPr lang="fr-FR" sz="2500" b="1" dirty="0">
                <a:solidFill>
                  <a:srgbClr val="000000"/>
                </a:solidFill>
              </a:rPr>
              <a:t>(</a:t>
            </a:r>
            <a:r>
              <a:rPr lang="fr-FR" sz="2500" b="1" dirty="0" err="1">
                <a:solidFill>
                  <a:srgbClr val="000000"/>
                </a:solidFill>
              </a:rPr>
              <a:t>Universite</a:t>
            </a:r>
            <a:r>
              <a:rPr lang="fr-FR" sz="2500" b="1" dirty="0">
                <a:solidFill>
                  <a:srgbClr val="000000"/>
                </a:solidFill>
              </a:rPr>
              <a:t> u);</a:t>
            </a:r>
            <a:br>
              <a:rPr lang="fr-FR" sz="1400" dirty="0"/>
            </a:br>
            <a:endParaRPr dirty="0"/>
          </a:p>
        </p:txBody>
      </p:sp>
      <p:sp>
        <p:nvSpPr>
          <p:cNvPr id="132" name="Google Shape;132;p29">
            <a:extLst>
              <a:ext uri="{FF2B5EF4-FFF2-40B4-BE49-F238E27FC236}">
                <a16:creationId xmlns:a16="http://schemas.microsoft.com/office/drawing/2014/main" id="{64FDB966-F2E5-8A86-4C0F-D7BB00B01B2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65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15</a:t>
            </a:fld>
            <a:endParaRPr/>
          </a:p>
        </p:txBody>
      </p:sp>
      <p:sp>
        <p:nvSpPr>
          <p:cNvPr id="133" name="Google Shape;133;p29">
            <a:extLst>
              <a:ext uri="{FF2B5EF4-FFF2-40B4-BE49-F238E27FC236}">
                <a16:creationId xmlns:a16="http://schemas.microsoft.com/office/drawing/2014/main" id="{5B1D3712-41E3-DB91-148F-09E06FE44725}"/>
              </a:ext>
            </a:extLst>
          </p:cNvPr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51703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>
            <a:spLocks noGrp="1"/>
          </p:cNvSpPr>
          <p:nvPr>
            <p:ph type="title"/>
          </p:nvPr>
        </p:nvSpPr>
        <p:spPr>
          <a:xfrm>
            <a:off x="-20711" y="317288"/>
            <a:ext cx="10693400" cy="543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Travail à faire</a:t>
            </a:r>
            <a:endParaRPr/>
          </a:p>
        </p:txBody>
      </p:sp>
      <p:sp>
        <p:nvSpPr>
          <p:cNvPr id="139" name="Google Shape;139;p30"/>
          <p:cNvSpPr txBox="1">
            <a:spLocks noGrp="1"/>
          </p:cNvSpPr>
          <p:nvPr>
            <p:ph type="body" idx="1"/>
          </p:nvPr>
        </p:nvSpPr>
        <p:spPr>
          <a:xfrm>
            <a:off x="81098" y="1784650"/>
            <a:ext cx="10531200" cy="37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1" i="0" u="sng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Partie 5 : Services avancés</a:t>
            </a:r>
            <a:endParaRPr sz="2500" b="0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500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0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 désire désaffecter un Foyer à une Universite. </a:t>
            </a:r>
            <a:endParaRPr sz="2500" b="0" i="0" u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500">
              <a:solidFill>
                <a:srgbClr val="000000"/>
              </a:solidFill>
            </a:endParaRPr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0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Créer un service permettant  la</a:t>
            </a:r>
            <a:r>
              <a:rPr lang="fr-FR" sz="2500">
                <a:solidFill>
                  <a:srgbClr val="000000"/>
                </a:solidFill>
              </a:rPr>
              <a:t> dés</a:t>
            </a:r>
            <a:r>
              <a:rPr lang="fr-FR" sz="2500" b="0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affectation d’un Foyer à une Universite et exposer le en respectant la signature suivante :</a:t>
            </a:r>
            <a:endParaRPr sz="2500" b="0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2500" b="0"/>
            </a:br>
            <a:r>
              <a:rPr lang="fr-FR" sz="25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public Universite desaffecterFoyerAUniversite (long idUniversite) ;</a:t>
            </a:r>
            <a:endParaRPr sz="2500" b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1400"/>
            </a:br>
            <a:endParaRPr/>
          </a:p>
        </p:txBody>
      </p:sp>
      <p:sp>
        <p:nvSpPr>
          <p:cNvPr id="140" name="Google Shape;140;p30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65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16</a:t>
            </a:fld>
            <a:endParaRPr/>
          </a:p>
        </p:txBody>
      </p:sp>
      <p:sp>
        <p:nvSpPr>
          <p:cNvPr id="141" name="Google Shape;141;p30"/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 txBox="1">
            <a:spLocks noGrp="1"/>
          </p:cNvSpPr>
          <p:nvPr>
            <p:ph type="title"/>
          </p:nvPr>
        </p:nvSpPr>
        <p:spPr>
          <a:xfrm>
            <a:off x="-20711" y="317288"/>
            <a:ext cx="10693400" cy="543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Travail à faire</a:t>
            </a:r>
            <a:endParaRPr/>
          </a:p>
        </p:txBody>
      </p:sp>
      <p:sp>
        <p:nvSpPr>
          <p:cNvPr id="147" name="Google Shape;147;p31"/>
          <p:cNvSpPr txBox="1">
            <a:spLocks noGrp="1"/>
          </p:cNvSpPr>
          <p:nvPr>
            <p:ph type="body" idx="1"/>
          </p:nvPr>
        </p:nvSpPr>
        <p:spPr>
          <a:xfrm>
            <a:off x="162198" y="1840800"/>
            <a:ext cx="10531200" cy="41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1" i="0" u="sng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Partie 5 : Services avancés</a:t>
            </a:r>
            <a:endParaRPr sz="2500" b="0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2500" b="0"/>
            </a:br>
            <a:r>
              <a:rPr lang="fr-FR" sz="2500" b="0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 désire affecter </a:t>
            </a:r>
            <a:r>
              <a:rPr lang="fr-FR" sz="25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</a:t>
            </a:r>
            <a:r>
              <a:rPr lang="fr-FR" sz="2500" b="0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Chambres à un Bloc. </a:t>
            </a:r>
            <a:endParaRPr sz="2500" b="0" i="0" u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500">
              <a:solidFill>
                <a:srgbClr val="000000"/>
              </a:solidFill>
            </a:endParaRPr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>
                <a:solidFill>
                  <a:srgbClr val="000000"/>
                </a:solidFill>
              </a:rPr>
              <a:t> </a:t>
            </a:r>
            <a:r>
              <a:rPr lang="fr-FR" sz="2500" b="0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Créer un service permettant  l’affectation des Chambres à un Bloc et exposer le en respectant la signature suivante :</a:t>
            </a:r>
            <a:endParaRPr sz="2500" b="0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2500" b="0"/>
            </a:br>
            <a:r>
              <a:rPr lang="fr-FR" sz="25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public </a:t>
            </a:r>
            <a:r>
              <a:rPr lang="fr-FR" sz="25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Bloc</a:t>
            </a:r>
            <a:r>
              <a:rPr lang="fr-FR" sz="25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affecterChambresA</a:t>
            </a:r>
            <a:r>
              <a:rPr lang="fr-FR" sz="25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r>
              <a:rPr lang="fr-FR" sz="25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loc(List&lt;</a:t>
            </a:r>
            <a:r>
              <a:rPr lang="fr-FR" sz="2500" b="1">
                <a:solidFill>
                  <a:srgbClr val="000000"/>
                </a:solidFill>
              </a:rPr>
              <a:t>Long</a:t>
            </a:r>
            <a:r>
              <a:rPr lang="fr-FR" sz="25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&gt; numChambre</a:t>
            </a:r>
            <a:r>
              <a:rPr lang="fr-FR" sz="25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fr-FR" sz="2500" b="1">
                <a:solidFill>
                  <a:srgbClr val="000000"/>
                </a:solidFill>
              </a:rPr>
              <a:t>long idBloc</a:t>
            </a:r>
            <a:r>
              <a:rPr lang="fr-FR" sz="25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;</a:t>
            </a:r>
            <a:endParaRPr sz="2500" b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1400"/>
            </a:br>
            <a:endParaRPr/>
          </a:p>
        </p:txBody>
      </p:sp>
      <p:sp>
        <p:nvSpPr>
          <p:cNvPr id="148" name="Google Shape;148;p31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65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17</a:t>
            </a:fld>
            <a:endParaRPr/>
          </a:p>
        </p:txBody>
      </p:sp>
      <p:sp>
        <p:nvSpPr>
          <p:cNvPr id="149" name="Google Shape;149;p31"/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>
            <a:spLocks noGrp="1"/>
          </p:cNvSpPr>
          <p:nvPr>
            <p:ph type="title"/>
          </p:nvPr>
        </p:nvSpPr>
        <p:spPr>
          <a:xfrm>
            <a:off x="-20711" y="317288"/>
            <a:ext cx="10693400" cy="543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Travail à faire</a:t>
            </a:r>
            <a:endParaRPr/>
          </a:p>
        </p:txBody>
      </p:sp>
      <p:sp>
        <p:nvSpPr>
          <p:cNvPr id="155" name="Google Shape;155;p32"/>
          <p:cNvSpPr txBox="1">
            <a:spLocks noGrp="1"/>
          </p:cNvSpPr>
          <p:nvPr>
            <p:ph type="body" idx="1"/>
          </p:nvPr>
        </p:nvSpPr>
        <p:spPr>
          <a:xfrm>
            <a:off x="93600" y="1260475"/>
            <a:ext cx="10599600" cy="61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1" i="0" u="sng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Partie 5 : Services avancés</a:t>
            </a:r>
            <a:endParaRPr sz="2500" b="1" i="0" u="sng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500" b="1" u="sng">
              <a:solidFill>
                <a:srgbClr val="000000"/>
              </a:solidFill>
            </a:endParaRPr>
          </a:p>
          <a:p>
            <a:pPr marL="114300" lvl="0" indent="-114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fr-FR" sz="2000"/>
              <a:t>On désire ajouter à la fois un Foyer ses blocs associés et l’affecter à une université donnée.</a:t>
            </a:r>
            <a:endParaRPr sz="2000"/>
          </a:p>
          <a:p>
            <a:pPr marL="114300" lvl="0" indent="-114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/>
          </a:p>
          <a:p>
            <a:pPr marL="457200" lvl="0" indent="-134198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fr-FR" sz="2000"/>
              <a:t> Il faut créer en même temps la liste des blocs (l’entité associée Bloc au Foyer) tout en assurant les affectations nécessaires.</a:t>
            </a:r>
            <a:endParaRPr sz="2000"/>
          </a:p>
          <a:p>
            <a:pPr marL="457200" lvl="0" indent="-7198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/>
          </a:p>
          <a:p>
            <a:pPr marL="457200" lvl="0" indent="-134198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fr-FR" sz="2000"/>
              <a:t>  </a:t>
            </a:r>
            <a:r>
              <a:rPr lang="fr-FR" sz="2000" b="1" u="sng"/>
              <a:t>N.B</a:t>
            </a:r>
            <a:r>
              <a:rPr lang="fr-FR" sz="2000" b="1"/>
              <a:t> :</a:t>
            </a:r>
            <a:r>
              <a:rPr lang="fr-FR" sz="2000"/>
              <a:t> L'ensemble des objets Blocs liés au Foyer seront inclus et encapsulés avec lui.</a:t>
            </a:r>
            <a:endParaRPr sz="2000"/>
          </a:p>
          <a:p>
            <a:pPr marL="114300" lvl="0" indent="-114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2000"/>
              <a:t> Créer le service adéquat et exposer le en respectant la signature suivante :</a:t>
            </a:r>
            <a:endParaRPr sz="2000"/>
          </a:p>
          <a:p>
            <a:pPr marL="114300" lvl="0" indent="-114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000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fr-FR" sz="2000" b="1"/>
              <a:t> public Foyer ajouterFoyerEtAffecterAUniversite (Foyer foyer, long idUniversite) ;</a:t>
            </a:r>
            <a:br>
              <a:rPr lang="fr-FR" sz="2000"/>
            </a:br>
            <a:endParaRPr sz="2000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1">
              <a:solidFill>
                <a:srgbClr val="000000"/>
              </a:solidFill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2000"/>
            </a:br>
            <a:endParaRPr sz="2000"/>
          </a:p>
        </p:txBody>
      </p:sp>
      <p:sp>
        <p:nvSpPr>
          <p:cNvPr id="156" name="Google Shape;156;p32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65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18</a:t>
            </a:fld>
            <a:endParaRPr/>
          </a:p>
        </p:txBody>
      </p:sp>
      <p:sp>
        <p:nvSpPr>
          <p:cNvPr id="157" name="Google Shape;157;p32"/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 txBox="1">
            <a:spLocks noGrp="1"/>
          </p:cNvSpPr>
          <p:nvPr>
            <p:ph type="title"/>
          </p:nvPr>
        </p:nvSpPr>
        <p:spPr>
          <a:xfrm>
            <a:off x="-20711" y="317288"/>
            <a:ext cx="106935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Travail à faire</a:t>
            </a:r>
            <a:endParaRPr/>
          </a:p>
        </p:txBody>
      </p:sp>
      <p:sp>
        <p:nvSpPr>
          <p:cNvPr id="163" name="Google Shape;163;p33"/>
          <p:cNvSpPr txBox="1">
            <a:spLocks noGrp="1"/>
          </p:cNvSpPr>
          <p:nvPr>
            <p:ph type="body" idx="1"/>
          </p:nvPr>
        </p:nvSpPr>
        <p:spPr>
          <a:xfrm>
            <a:off x="162125" y="1260475"/>
            <a:ext cx="10531200" cy="62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fr-FR" sz="2500" b="1" u="sng"/>
              <a:t>Partie 5 : Services avancés</a:t>
            </a:r>
            <a:endParaRPr sz="2500"/>
          </a:p>
          <a:p>
            <a:pPr marL="114300" lvl="0" indent="-114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br>
              <a:rPr lang="fr-FR" sz="1400"/>
            </a:br>
            <a:r>
              <a:rPr lang="fr-FR" sz="2000"/>
              <a:t>On désire ajouter une réservation et l’affecter à la fois à une chambre à un étudiant donné.</a:t>
            </a:r>
            <a:endParaRPr sz="2000"/>
          </a:p>
          <a:p>
            <a:pPr marL="114300" lvl="0" indent="-114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fr-FR" sz="2000"/>
              <a:t> Au moment de l’ajout de la réservation, vous devez prendre en considérations les consignes suivants :</a:t>
            </a:r>
            <a:endParaRPr sz="2000"/>
          </a:p>
          <a:p>
            <a:pPr marL="114300" lvl="0" indent="-114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/>
          </a:p>
          <a:p>
            <a:pPr marL="540000" lvl="1" indent="-21699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fr-FR" sz="20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numReservation</a:t>
            </a:r>
            <a:r>
              <a:rPr lang="fr-FR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doit être sous le format suivant : </a:t>
            </a:r>
            <a:r>
              <a:rPr lang="fr-FR" sz="20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numChambre-nomBloc-anneeUniversitaire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540000" lvl="1" indent="-21699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fr-FR" sz="20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estValide</a:t>
            </a:r>
            <a:r>
              <a:rPr lang="fr-FR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true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2000" b="1" u="sng"/>
              <a:t>N.B</a:t>
            </a:r>
            <a:r>
              <a:rPr lang="fr-FR" sz="2000" b="1"/>
              <a:t> : </a:t>
            </a:r>
            <a:r>
              <a:rPr lang="fr-FR" sz="2000"/>
              <a:t>L’ajout de la réservation se fait que si la capacité maximale de la chambre (selon le type de la chambre SIMPLE, DOUBLE ou TRIPLE) est encore non atteinte.</a:t>
            </a:r>
            <a:endParaRPr sz="2000"/>
          </a:p>
          <a:p>
            <a:pPr marL="4500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2000"/>
              <a:t>  Créer le service adéquat et exposer le en respectant la signature suivante :</a:t>
            </a:r>
            <a:endParaRPr sz="2000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fr-FR" sz="2000" b="1"/>
              <a:t>  public Reservation ajouterReservation (long idBloc, long cinEtudiant) ;</a:t>
            </a:r>
            <a:endParaRPr sz="2000" b="1" u="sng">
              <a:solidFill>
                <a:srgbClr val="000000"/>
              </a:solidFill>
            </a:endParaRPr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>
              <a:solidFill>
                <a:srgbClr val="000000"/>
              </a:solidFill>
            </a:endParaRPr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>
              <a:solidFill>
                <a:srgbClr val="000000"/>
              </a:solidFill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33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00" cy="1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19</a:t>
            </a:fld>
            <a:endParaRPr/>
          </a:p>
        </p:txBody>
      </p:sp>
      <p:sp>
        <p:nvSpPr>
          <p:cNvPr id="165" name="Google Shape;165;p33"/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975c23ed04_1_0"/>
          <p:cNvSpPr txBox="1">
            <a:spLocks noGrp="1"/>
          </p:cNvSpPr>
          <p:nvPr>
            <p:ph type="title"/>
          </p:nvPr>
        </p:nvSpPr>
        <p:spPr>
          <a:xfrm>
            <a:off x="448525" y="316051"/>
            <a:ext cx="9796500" cy="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Travail à faire</a:t>
            </a:r>
            <a:endParaRPr/>
          </a:p>
        </p:txBody>
      </p:sp>
      <p:sp>
        <p:nvSpPr>
          <p:cNvPr id="171" name="Google Shape;171;g2975c23ed04_1_0"/>
          <p:cNvSpPr txBox="1">
            <a:spLocks noGrp="1"/>
          </p:cNvSpPr>
          <p:nvPr>
            <p:ph type="body" idx="1"/>
          </p:nvPr>
        </p:nvSpPr>
        <p:spPr>
          <a:xfrm>
            <a:off x="157925" y="1527350"/>
            <a:ext cx="10311600" cy="52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1" i="0" u="sng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Partie 5 : Services avancés</a:t>
            </a:r>
            <a:endParaRPr sz="2500" b="0"/>
          </a:p>
          <a:p>
            <a:pPr marL="114300" lvl="0" indent="-114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1400" b="0"/>
            </a:br>
            <a:r>
              <a:rPr lang="fr-FR" sz="2000">
                <a:solidFill>
                  <a:srgbClr val="000000"/>
                </a:solidFill>
              </a:rPr>
              <a:t>On désire annuler une réservation d’un étudiant donné.</a:t>
            </a:r>
            <a:endParaRPr sz="2000">
              <a:solidFill>
                <a:srgbClr val="000000"/>
              </a:solidFill>
            </a:endParaRPr>
          </a:p>
          <a:p>
            <a:pPr marL="114300" lvl="0" indent="-114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2000">
                <a:solidFill>
                  <a:srgbClr val="000000"/>
                </a:solidFill>
              </a:rPr>
              <a:t> </a:t>
            </a:r>
            <a:endParaRPr sz="2000">
              <a:solidFill>
                <a:srgbClr val="000000"/>
              </a:solidFill>
            </a:endParaRPr>
          </a:p>
          <a:p>
            <a:pPr marL="114300" lvl="0" indent="-114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2000">
                <a:solidFill>
                  <a:srgbClr val="000000"/>
                </a:solidFill>
              </a:rPr>
              <a:t> Créer un service permettant d’annuler une réservation selon la cin d’un étudiant donné et exposer le en respectant la signature suivante :</a:t>
            </a:r>
            <a:endParaRPr sz="2000">
              <a:solidFill>
                <a:srgbClr val="000000"/>
              </a:solidFill>
            </a:endParaRPr>
          </a:p>
          <a:p>
            <a:pPr marL="114300" lvl="0" indent="-114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>
                <a:solidFill>
                  <a:srgbClr val="000000"/>
                </a:solidFill>
              </a:rPr>
              <a:t> </a:t>
            </a:r>
            <a:br>
              <a:rPr lang="fr-FR" sz="2000" b="0"/>
            </a:br>
            <a:r>
              <a:rPr lang="fr-FR" sz="2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public </a:t>
            </a:r>
            <a:r>
              <a:rPr lang="fr-FR" sz="2000" b="1">
                <a:solidFill>
                  <a:srgbClr val="000000"/>
                </a:solidFill>
              </a:rPr>
              <a:t>Reservation annulerReservation</a:t>
            </a:r>
            <a:r>
              <a:rPr lang="fr-FR" sz="2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(long </a:t>
            </a:r>
            <a:r>
              <a:rPr lang="fr-FR" sz="2000" b="1">
                <a:solidFill>
                  <a:srgbClr val="000000"/>
                </a:solidFill>
              </a:rPr>
              <a:t>cinEtudiant</a:t>
            </a:r>
            <a:r>
              <a:rPr lang="fr-FR" sz="2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;</a:t>
            </a:r>
            <a:endParaRPr sz="2000" b="1" i="0" u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14300" lvl="0" indent="-114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1">
              <a:solidFill>
                <a:srgbClr val="000000"/>
              </a:solidFill>
            </a:endParaRPr>
          </a:p>
          <a:p>
            <a:pPr marL="114300" lvl="0" indent="-114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>
                <a:solidFill>
                  <a:srgbClr val="000000"/>
                </a:solidFill>
              </a:rPr>
              <a:t>	</a:t>
            </a:r>
            <a:endParaRPr sz="2000" b="1">
              <a:solidFill>
                <a:srgbClr val="000000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 u="sng"/>
              <a:t>N.B</a:t>
            </a:r>
            <a:r>
              <a:rPr lang="fr-FR" sz="2000" b="1"/>
              <a:t> : </a:t>
            </a:r>
            <a:r>
              <a:rPr lang="fr-FR" sz="2000"/>
              <a:t>L’annulation de la réservation permet de :</a:t>
            </a:r>
            <a:endParaRPr sz="2000"/>
          </a:p>
          <a:p>
            <a:pPr marL="682999" lvl="0" indent="-22579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fr-FR" sz="2000"/>
              <a:t>Mettre à jour l’état de la réservation (</a:t>
            </a:r>
            <a:r>
              <a:rPr lang="fr-FR" sz="2000" b="1"/>
              <a:t>estValide</a:t>
            </a:r>
            <a:r>
              <a:rPr lang="fr-FR" sz="2000"/>
              <a:t>: false)</a:t>
            </a:r>
            <a:endParaRPr sz="2000"/>
          </a:p>
          <a:p>
            <a:pPr marL="682999" lvl="0" indent="-22579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fr-FR" sz="2000"/>
              <a:t>Désaffecter l’étudiant associé</a:t>
            </a:r>
            <a:endParaRPr sz="2000"/>
          </a:p>
          <a:p>
            <a:pPr marL="682999" lvl="0" indent="-22579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fr-FR" sz="2000"/>
              <a:t>Désaffecter  la chambre associée et mettre à jour sa capacité</a:t>
            </a:r>
            <a:endParaRPr sz="2000"/>
          </a:p>
        </p:txBody>
      </p:sp>
      <p:sp>
        <p:nvSpPr>
          <p:cNvPr id="172" name="Google Shape;172;g2975c23ed04_1_0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/>
              <a:t>20</a:t>
            </a:fld>
            <a:endParaRPr/>
          </a:p>
        </p:txBody>
      </p:sp>
      <p:sp>
        <p:nvSpPr>
          <p:cNvPr id="173" name="Google Shape;173;g2975c23ed04_1_0"/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"/>
          <p:cNvSpPr txBox="1">
            <a:spLocks noGrp="1"/>
          </p:cNvSpPr>
          <p:nvPr>
            <p:ph type="title"/>
          </p:nvPr>
        </p:nvSpPr>
        <p:spPr>
          <a:xfrm>
            <a:off x="-20711" y="317288"/>
            <a:ext cx="10693400" cy="543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Travail à faire</a:t>
            </a:r>
            <a:endParaRPr/>
          </a:p>
        </p:txBody>
      </p:sp>
      <p:sp>
        <p:nvSpPr>
          <p:cNvPr id="179" name="Google Shape;179;p34"/>
          <p:cNvSpPr txBox="1">
            <a:spLocks noGrp="1"/>
          </p:cNvSpPr>
          <p:nvPr>
            <p:ph type="body" idx="1"/>
          </p:nvPr>
        </p:nvSpPr>
        <p:spPr>
          <a:xfrm>
            <a:off x="81098" y="2402400"/>
            <a:ext cx="105312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1" i="0" u="sng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Partie 5 : Services avancés</a:t>
            </a:r>
            <a:endParaRPr sz="2500" b="1" i="0" u="sng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500" b="1" u="sng">
              <a:solidFill>
                <a:srgbClr val="000000"/>
              </a:solidFill>
            </a:endParaRPr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1400" b="0"/>
            </a:br>
            <a:r>
              <a:rPr lang="fr-FR" sz="2000" b="0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Créer </a:t>
            </a:r>
            <a:r>
              <a:rPr lang="fr-FR" sz="2000">
                <a:solidFill>
                  <a:srgbClr val="000000"/>
                </a:solidFill>
              </a:rPr>
              <a:t>un service qui affiche les chambres d'une université spécifique en utilisant </a:t>
            </a:r>
            <a:r>
              <a:rPr lang="fr-FR" sz="2000" b="1">
                <a:solidFill>
                  <a:srgbClr val="000000"/>
                </a:solidFill>
              </a:rPr>
              <a:t>son nom comme attribut unique</a:t>
            </a:r>
            <a:r>
              <a:rPr lang="fr-FR" sz="2000">
                <a:solidFill>
                  <a:srgbClr val="000000"/>
                </a:solidFill>
              </a:rPr>
              <a:t>, tout en respectant la signature suivante :</a:t>
            </a:r>
            <a:r>
              <a:rPr lang="fr-FR" sz="2000" b="0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000" b="0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2000" b="0"/>
            </a:br>
            <a:r>
              <a:rPr lang="fr-FR" sz="2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public </a:t>
            </a:r>
            <a:r>
              <a:rPr lang="fr-FR" sz="20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List&lt;Chambre&gt; </a:t>
            </a:r>
            <a:r>
              <a:rPr lang="fr-FR" sz="2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fr-FR" sz="20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getChambresParNom</a:t>
            </a:r>
            <a:r>
              <a:rPr lang="fr-FR" sz="2000" b="1">
                <a:solidFill>
                  <a:srgbClr val="000000"/>
                </a:solidFill>
              </a:rPr>
              <a:t>Universite</a:t>
            </a:r>
            <a:r>
              <a:rPr lang="fr-FR" sz="2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</a:t>
            </a:r>
            <a:r>
              <a:rPr lang="fr-FR" sz="20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String nom</a:t>
            </a:r>
            <a:r>
              <a:rPr lang="fr-FR" sz="2000" b="1">
                <a:solidFill>
                  <a:srgbClr val="000000"/>
                </a:solidFill>
              </a:rPr>
              <a:t>Universite</a:t>
            </a:r>
            <a:r>
              <a:rPr lang="fr-FR" sz="2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;</a:t>
            </a:r>
            <a:endParaRPr sz="2000" b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1800"/>
            </a:br>
            <a:endParaRPr sz="1800"/>
          </a:p>
        </p:txBody>
      </p:sp>
      <p:sp>
        <p:nvSpPr>
          <p:cNvPr id="180" name="Google Shape;180;p34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65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21</a:t>
            </a:fld>
            <a:endParaRPr/>
          </a:p>
        </p:txBody>
      </p:sp>
      <p:sp>
        <p:nvSpPr>
          <p:cNvPr id="181" name="Google Shape;181;p34"/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975c23ed04_1_20"/>
          <p:cNvSpPr txBox="1">
            <a:spLocks noGrp="1"/>
          </p:cNvSpPr>
          <p:nvPr>
            <p:ph type="title"/>
          </p:nvPr>
        </p:nvSpPr>
        <p:spPr>
          <a:xfrm>
            <a:off x="448525" y="316051"/>
            <a:ext cx="9796500" cy="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Travail à faire</a:t>
            </a:r>
            <a:endParaRPr/>
          </a:p>
        </p:txBody>
      </p:sp>
      <p:sp>
        <p:nvSpPr>
          <p:cNvPr id="187" name="Google Shape;187;g2975c23ed04_1_20"/>
          <p:cNvSpPr txBox="1">
            <a:spLocks noGrp="1"/>
          </p:cNvSpPr>
          <p:nvPr>
            <p:ph type="body" idx="1"/>
          </p:nvPr>
        </p:nvSpPr>
        <p:spPr>
          <a:xfrm>
            <a:off x="157925" y="1527350"/>
            <a:ext cx="10311600" cy="52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1" i="0" u="sng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Partie 5 : Services avancés</a:t>
            </a:r>
            <a:endParaRPr sz="2500" b="0"/>
          </a:p>
          <a:p>
            <a:pPr marL="114300" lvl="0" indent="-114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1400" b="0"/>
            </a:br>
            <a:r>
              <a:rPr lang="fr-FR" sz="2000">
                <a:solidFill>
                  <a:srgbClr val="000000"/>
                </a:solidFill>
              </a:rPr>
              <a:t>On souhaite récupérer les chambres d’un bloc donné selon leur type.</a:t>
            </a:r>
            <a:endParaRPr sz="2000">
              <a:solidFill>
                <a:srgbClr val="000000"/>
              </a:solidFill>
            </a:endParaRPr>
          </a:p>
          <a:p>
            <a:pPr marL="114300" lvl="0" indent="-114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2000">
                <a:solidFill>
                  <a:srgbClr val="000000"/>
                </a:solidFill>
              </a:rPr>
              <a:t> </a:t>
            </a:r>
            <a:endParaRPr sz="2000">
              <a:solidFill>
                <a:srgbClr val="000000"/>
              </a:solidFill>
            </a:endParaRPr>
          </a:p>
          <a:p>
            <a:pPr marL="114300" lvl="0" indent="-114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2000">
                <a:solidFill>
                  <a:srgbClr val="000000"/>
                </a:solidFill>
              </a:rPr>
              <a:t> Créer un service permettant de lister les chambres d’un bloc selon un type donné </a:t>
            </a:r>
            <a:r>
              <a:rPr lang="fr-FR" sz="2000"/>
              <a:t>en proposant </a:t>
            </a:r>
            <a:r>
              <a:rPr lang="fr-FR" sz="2000" u="sng"/>
              <a:t>deux solutions différents</a:t>
            </a:r>
            <a:r>
              <a:rPr lang="fr-FR" sz="2000"/>
              <a:t> (JPQL et Keywords)</a:t>
            </a:r>
            <a:r>
              <a:rPr lang="fr-FR" sz="2000">
                <a:solidFill>
                  <a:srgbClr val="000000"/>
                </a:solidFill>
              </a:rPr>
              <a:t> et exposer le en respectant la signature suivante :</a:t>
            </a:r>
            <a:endParaRPr sz="2000">
              <a:solidFill>
                <a:srgbClr val="000000"/>
              </a:solidFill>
            </a:endParaRPr>
          </a:p>
          <a:p>
            <a:pPr marL="114300" lvl="0" indent="-114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>
              <a:solidFill>
                <a:srgbClr val="000000"/>
              </a:solidFill>
            </a:endParaRPr>
          </a:p>
          <a:p>
            <a:pPr marL="114300" lvl="0" indent="-114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>
                <a:solidFill>
                  <a:srgbClr val="000000"/>
                </a:solidFill>
              </a:rPr>
              <a:t> </a:t>
            </a:r>
            <a:br>
              <a:rPr lang="fr-FR" sz="2000" b="0"/>
            </a:br>
            <a:r>
              <a:rPr lang="fr-FR" sz="2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public </a:t>
            </a:r>
            <a:r>
              <a:rPr lang="fr-FR" sz="2000" b="1">
                <a:solidFill>
                  <a:srgbClr val="000000"/>
                </a:solidFill>
              </a:rPr>
              <a:t>List&lt;Chambre&gt; getChambresParBlocEtType</a:t>
            </a:r>
            <a:r>
              <a:rPr lang="fr-FR" sz="2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(long idBloc, </a:t>
            </a:r>
            <a:r>
              <a:rPr lang="fr-FR" sz="2000" b="1">
                <a:solidFill>
                  <a:srgbClr val="000000"/>
                </a:solidFill>
              </a:rPr>
              <a:t>TypeChambre typeC</a:t>
            </a:r>
            <a:r>
              <a:rPr lang="fr-FR" sz="2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;</a:t>
            </a:r>
            <a:endParaRPr sz="2000" b="1" i="0" u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14300" lvl="0" indent="-114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000000"/>
              </a:solidFill>
            </a:endParaRPr>
          </a:p>
          <a:p>
            <a:pPr marL="114300" lvl="0" indent="-1143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1800" b="1">
                <a:solidFill>
                  <a:srgbClr val="000000"/>
                </a:solidFill>
              </a:rPr>
              <a:t>	</a:t>
            </a:r>
            <a:endParaRPr sz="1800" b="1">
              <a:solidFill>
                <a:srgbClr val="000000"/>
              </a:solidFill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1400"/>
            </a:br>
            <a:endParaRPr/>
          </a:p>
        </p:txBody>
      </p:sp>
      <p:sp>
        <p:nvSpPr>
          <p:cNvPr id="188" name="Google Shape;188;g2975c23ed04_1_20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/>
              <a:t>22</a:t>
            </a:fld>
            <a:endParaRPr/>
          </a:p>
        </p:txBody>
      </p:sp>
      <p:sp>
        <p:nvSpPr>
          <p:cNvPr id="189" name="Google Shape;189;g2975c23ed04_1_20"/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-20711" y="317288"/>
            <a:ext cx="106935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Travail à faire</a:t>
            </a:r>
            <a:endParaRPr/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162198" y="2157425"/>
            <a:ext cx="10531200" cy="38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1" i="0" u="sng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Partie 5 : Services avancés</a:t>
            </a:r>
            <a:endParaRPr sz="2500" b="0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1400" b="0"/>
            </a:br>
            <a:r>
              <a:rPr lang="fr-FR" sz="2000" b="0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Créer un service permettant </a:t>
            </a:r>
            <a:r>
              <a:rPr lang="fr-FR" sz="2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l’affichage</a:t>
            </a:r>
            <a:r>
              <a:rPr lang="fr-FR" sz="2000" b="0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fr-FR" sz="2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 </a:t>
            </a:r>
            <a:r>
              <a:rPr lang="fr-FR" sz="2000">
                <a:solidFill>
                  <a:srgbClr val="000000"/>
                </a:solidFill>
              </a:rPr>
              <a:t>réservations</a:t>
            </a:r>
            <a:r>
              <a:rPr lang="fr-FR" sz="2000" b="0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effectuée lors d’une année universitaire donnée et exposer le en respectant la signature suivante :</a:t>
            </a:r>
            <a:endParaRPr sz="2000" b="0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2000" b="0"/>
            </a:br>
            <a:r>
              <a:rPr lang="fr-FR" sz="2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public </a:t>
            </a:r>
            <a:r>
              <a:rPr lang="fr-FR" sz="2000" b="1">
                <a:solidFill>
                  <a:srgbClr val="000000"/>
                </a:solidFill>
              </a:rPr>
              <a:t>List&lt;Reservation&gt; </a:t>
            </a:r>
            <a:r>
              <a:rPr lang="fr-FR" sz="2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fr-FR" sz="20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getReservationParAnneeUniversitaireEt</a:t>
            </a:r>
            <a:r>
              <a:rPr lang="fr-FR" sz="2000" b="1">
                <a:solidFill>
                  <a:srgbClr val="000000"/>
                </a:solidFill>
              </a:rPr>
              <a:t>NomUniversite</a:t>
            </a:r>
            <a:r>
              <a:rPr lang="fr-FR" sz="2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</a:t>
            </a:r>
            <a:r>
              <a:rPr lang="fr-FR" sz="20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Date </a:t>
            </a:r>
            <a:r>
              <a:rPr lang="fr-FR" sz="2000" b="1">
                <a:solidFill>
                  <a:srgbClr val="000000"/>
                </a:solidFill>
              </a:rPr>
              <a:t>anneeUniversite</a:t>
            </a:r>
            <a:r>
              <a:rPr lang="fr-FR" sz="20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fr-FR" sz="2000" b="1">
                <a:solidFill>
                  <a:srgbClr val="000000"/>
                </a:solidFill>
              </a:rPr>
              <a:t>String nomUniversite</a:t>
            </a:r>
            <a:r>
              <a:rPr lang="fr-FR" sz="2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;</a:t>
            </a:r>
            <a:endParaRPr sz="2000" b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1">
              <a:solidFill>
                <a:srgbClr val="FF0000"/>
              </a:solidFill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1">
              <a:solidFill>
                <a:srgbClr val="FF0000"/>
              </a:solidFill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b="1">
                <a:solidFill>
                  <a:srgbClr val="FF0000"/>
                </a:solidFill>
              </a:rPr>
              <a:t>NB: Le nom d’une université est unique </a:t>
            </a:r>
            <a:endParaRPr sz="2000" b="1">
              <a:solidFill>
                <a:srgbClr val="FF0000"/>
              </a:solidFill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p36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00" cy="1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23</a:t>
            </a:fld>
            <a:endParaRPr/>
          </a:p>
        </p:txBody>
      </p:sp>
      <p:sp>
        <p:nvSpPr>
          <p:cNvPr id="197" name="Google Shape;197;p36"/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-20711" y="317288"/>
            <a:ext cx="106935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Travail à faire</a:t>
            </a:r>
            <a:endParaRPr/>
          </a:p>
        </p:txBody>
      </p:sp>
      <p:sp>
        <p:nvSpPr>
          <p:cNvPr id="203" name="Google Shape;203;p37"/>
          <p:cNvSpPr txBox="1">
            <a:spLocks noGrp="1"/>
          </p:cNvSpPr>
          <p:nvPr>
            <p:ph type="body" idx="1"/>
          </p:nvPr>
        </p:nvSpPr>
        <p:spPr>
          <a:xfrm>
            <a:off x="162198" y="2209163"/>
            <a:ext cx="10531200" cy="3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1" i="0" u="sng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Partie 5 : Services avancés</a:t>
            </a:r>
            <a:endParaRPr sz="2500" b="1" i="0" u="sng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500" b="1" u="sng">
              <a:solidFill>
                <a:srgbClr val="000000"/>
              </a:solidFill>
            </a:endParaRPr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1400" b="0"/>
            </a:br>
            <a:r>
              <a:rPr lang="fr-FR" sz="2000" b="0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Créer un service permettant l’</a:t>
            </a:r>
            <a:r>
              <a:rPr lang="fr-FR" sz="2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affichage</a:t>
            </a:r>
            <a:r>
              <a:rPr lang="fr-FR" sz="2000" b="0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fr-FR" sz="2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</a:t>
            </a:r>
            <a:r>
              <a:rPr lang="fr-FR" sz="2000" b="0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 chambres non réservées ,par typeChambre ,  appartenant à un </a:t>
            </a:r>
            <a:r>
              <a:rPr lang="fr-FR" sz="2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foyer</a:t>
            </a:r>
            <a:r>
              <a:rPr lang="fr-FR" sz="2000" b="0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donné par son nom,</a:t>
            </a:r>
            <a:r>
              <a:rPr lang="fr-FR" sz="2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effectué durant l’année universitaire actuelle</a:t>
            </a:r>
            <a:r>
              <a:rPr lang="fr-FR" sz="2000" b="0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et exposer le en respectant la signature suivante :</a:t>
            </a:r>
            <a:endParaRPr sz="2000" b="0" i="0" u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>
              <a:solidFill>
                <a:srgbClr val="000000"/>
              </a:solidFill>
            </a:endParaRPr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2000" b="0"/>
            </a:br>
            <a:r>
              <a:rPr lang="fr-FR" sz="2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public </a:t>
            </a:r>
            <a:r>
              <a:rPr lang="fr-FR" sz="20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List&lt;Chambre&gt; </a:t>
            </a:r>
            <a:r>
              <a:rPr lang="fr-FR" sz="2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fr-FR" sz="20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getChambresNonReserveParNom</a:t>
            </a:r>
            <a:r>
              <a:rPr lang="fr-FR" sz="2000" b="1">
                <a:solidFill>
                  <a:srgbClr val="000000"/>
                </a:solidFill>
              </a:rPr>
              <a:t>Universite</a:t>
            </a:r>
            <a:r>
              <a:rPr lang="fr-FR" sz="20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EtTypeChambre</a:t>
            </a:r>
            <a:r>
              <a:rPr lang="fr-FR" sz="2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</a:t>
            </a:r>
            <a:r>
              <a:rPr lang="fr-FR" sz="20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String nom</a:t>
            </a:r>
            <a:r>
              <a:rPr lang="fr-FR" sz="2000" b="1">
                <a:solidFill>
                  <a:srgbClr val="000000"/>
                </a:solidFill>
              </a:rPr>
              <a:t>Universite</a:t>
            </a:r>
            <a:r>
              <a:rPr lang="fr-FR" sz="20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,TypeChambre type</a:t>
            </a:r>
            <a:r>
              <a:rPr lang="fr-FR" sz="2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;</a:t>
            </a:r>
            <a:endParaRPr sz="2000" b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2000"/>
            </a:br>
            <a:endParaRPr sz="2000"/>
          </a:p>
        </p:txBody>
      </p:sp>
      <p:sp>
        <p:nvSpPr>
          <p:cNvPr id="204" name="Google Shape;204;p37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00" cy="1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24</a:t>
            </a:fld>
            <a:endParaRPr/>
          </a:p>
        </p:txBody>
      </p:sp>
      <p:sp>
        <p:nvSpPr>
          <p:cNvPr id="205" name="Google Shape;205;p37"/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9b08cc0492_3_0"/>
          <p:cNvSpPr txBox="1">
            <a:spLocks noGrp="1"/>
          </p:cNvSpPr>
          <p:nvPr>
            <p:ph type="title"/>
          </p:nvPr>
        </p:nvSpPr>
        <p:spPr>
          <a:xfrm>
            <a:off x="448525" y="485475"/>
            <a:ext cx="9796200" cy="10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/>
              <a:t>Travail à faire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2" name="Google Shape;212;g29b08cc0492_3_0"/>
          <p:cNvSpPr txBox="1">
            <a:spLocks noGrp="1"/>
          </p:cNvSpPr>
          <p:nvPr>
            <p:ph type="body" idx="1"/>
          </p:nvPr>
        </p:nvSpPr>
        <p:spPr>
          <a:xfrm>
            <a:off x="99076" y="2020075"/>
            <a:ext cx="106935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fr-FR" sz="2500" b="1" u="sng"/>
              <a:t>Partie 6 : Scheduler</a:t>
            </a:r>
            <a:endParaRPr sz="2500" b="1" u="sng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br>
              <a:rPr lang="fr-FR" sz="1400"/>
            </a:br>
            <a:r>
              <a:rPr lang="fr-FR" sz="2000"/>
              <a:t>Créer un service permettant l’affichage des chambres non réservées pendant cette année pour toutes les universite</a:t>
            </a:r>
            <a:endParaRPr/>
          </a:p>
        </p:txBody>
      </p:sp>
      <p:sp>
        <p:nvSpPr>
          <p:cNvPr id="213" name="Google Shape;213;g29b08cc0492_3_0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9b08cc0492_3_21"/>
          <p:cNvSpPr txBox="1">
            <a:spLocks noGrp="1"/>
          </p:cNvSpPr>
          <p:nvPr>
            <p:ph type="title"/>
          </p:nvPr>
        </p:nvSpPr>
        <p:spPr>
          <a:xfrm>
            <a:off x="448525" y="485475"/>
            <a:ext cx="9796200" cy="10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Travail à faire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0" name="Google Shape;220;g29b08cc0492_3_21"/>
          <p:cNvSpPr txBox="1">
            <a:spLocks noGrp="1"/>
          </p:cNvSpPr>
          <p:nvPr>
            <p:ph type="body" idx="1"/>
          </p:nvPr>
        </p:nvSpPr>
        <p:spPr>
          <a:xfrm>
            <a:off x="192100" y="1776725"/>
            <a:ext cx="103092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 b="1" u="sng"/>
              <a:t>Partie 6 : AOP</a:t>
            </a:r>
            <a:endParaRPr sz="2500" b="1" u="sng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fr-FR" sz="1400"/>
            </a:br>
            <a:r>
              <a:rPr lang="fr-FR" sz="2000"/>
              <a:t>Créer un aspect permettant l’affichage de temps d’exécution de la méthode </a:t>
            </a:r>
            <a:endParaRPr sz="2000"/>
          </a:p>
          <a:p>
            <a:pPr marL="11430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/>
              <a:t>ajouter réservation.</a:t>
            </a:r>
            <a:endParaRPr/>
          </a:p>
        </p:txBody>
      </p:sp>
      <p:sp>
        <p:nvSpPr>
          <p:cNvPr id="221" name="Google Shape;221;g29b08cc0492_3_21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 txBox="1">
            <a:spLocks noGrp="1"/>
          </p:cNvSpPr>
          <p:nvPr>
            <p:ph type="body" idx="1"/>
          </p:nvPr>
        </p:nvSpPr>
        <p:spPr>
          <a:xfrm>
            <a:off x="162123" y="1260475"/>
            <a:ext cx="10531200" cy="58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200" b="1" u="sng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500">
                <a:solidFill>
                  <a:srgbClr val="000000"/>
                </a:solidFill>
              </a:rPr>
              <a:t>Si vous avez des questions, n’hésitez pas à nous contacter : </a:t>
            </a:r>
            <a:endParaRPr sz="25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400" b="1">
                <a:solidFill>
                  <a:srgbClr val="000000"/>
                </a:solidFill>
              </a:rPr>
              <a:t>Département Informatique </a:t>
            </a: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400" b="1">
                <a:solidFill>
                  <a:srgbClr val="000000"/>
                </a:solidFill>
              </a:rPr>
              <a:t>UP ASI (Architectures des Systèmes d'Information)</a:t>
            </a:r>
            <a:endParaRPr sz="240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fr-FR" sz="2400" b="1"/>
              <a:t>Bureaux E204 | E304 </a:t>
            </a:r>
            <a:endParaRPr sz="24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fr-FR" sz="2400" b="1"/>
              <a:t>Année Universitaire : 2023-2024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227" name="Google Shape;227;p23"/>
          <p:cNvSpPr txBox="1">
            <a:spLocks noGrp="1"/>
          </p:cNvSpPr>
          <p:nvPr>
            <p:ph type="sldNum" idx="12"/>
          </p:nvPr>
        </p:nvSpPr>
        <p:spPr>
          <a:xfrm>
            <a:off x="9358981" y="7313639"/>
            <a:ext cx="774065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6690" lvl="0" indent="0" algn="l" rtl="0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27</a:t>
            </a:fld>
            <a:endParaRPr/>
          </a:p>
        </p:txBody>
      </p:sp>
      <p:sp>
        <p:nvSpPr>
          <p:cNvPr id="228" name="Google Shape;228;p23"/>
          <p:cNvSpPr/>
          <p:nvPr/>
        </p:nvSpPr>
        <p:spPr>
          <a:xfrm>
            <a:off x="2321275" y="7300775"/>
            <a:ext cx="6046500" cy="16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1797025" y="373750"/>
            <a:ext cx="70950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fr-FR" sz="35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Etude De Cas : Gestion Foyer </a:t>
            </a:r>
            <a:endParaRPr sz="35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1589</Words>
  <Application>Microsoft Office PowerPoint</Application>
  <PresentationFormat>Personnalisé</PresentationFormat>
  <Paragraphs>311</Paragraphs>
  <Slides>27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Century Gothic</vt:lpstr>
      <vt:lpstr>Calibri</vt:lpstr>
      <vt:lpstr>Arial</vt:lpstr>
      <vt:lpstr>2_Office Theme</vt:lpstr>
      <vt:lpstr>Présentation PowerPoint</vt:lpstr>
      <vt:lpstr>Présentation PowerPoint</vt:lpstr>
      <vt:lpstr>Présentation PowerPoint</vt:lpstr>
      <vt:lpstr>Travail à faire</vt:lpstr>
      <vt:lpstr>Travail à faire</vt:lpstr>
      <vt:lpstr>Travail à faire</vt:lpstr>
      <vt:lpstr>Travail à faire</vt:lpstr>
      <vt:lpstr>Travail à faire</vt:lpstr>
      <vt:lpstr>Travail à faire</vt:lpstr>
      <vt:lpstr>Travail à faire</vt:lpstr>
      <vt:lpstr>Travail à faire</vt:lpstr>
      <vt:lpstr>Travail à faire</vt:lpstr>
      <vt:lpstr>Travail à faire</vt:lpstr>
      <vt:lpstr>Travail à faire</vt:lpstr>
      <vt:lpstr>Travail à faire</vt:lpstr>
      <vt:lpstr>Travail à faire</vt:lpstr>
      <vt:lpstr>Travail à faire</vt:lpstr>
      <vt:lpstr>Travail à faire</vt:lpstr>
      <vt:lpstr>Travail à faire</vt:lpstr>
      <vt:lpstr>Travail à faire</vt:lpstr>
      <vt:lpstr>Travail à faire</vt:lpstr>
      <vt:lpstr>Travail à faire</vt:lpstr>
      <vt:lpstr>Travail à faire</vt:lpstr>
      <vt:lpstr>Travail à faire</vt:lpstr>
      <vt:lpstr>Travail à faire </vt:lpstr>
      <vt:lpstr>Travail à faire 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</dc:creator>
  <cp:lastModifiedBy>erij klai</cp:lastModifiedBy>
  <cp:revision>1</cp:revision>
  <dcterms:created xsi:type="dcterms:W3CDTF">2016-10-15T13:19:30Z</dcterms:created>
  <dcterms:modified xsi:type="dcterms:W3CDTF">2026-03-30T14:43:07Z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2007-01-12T00:00:00Z</vt:filetime>
  </property>
  <property fmtid="{D5CDD505-2E9C-101B-9397-08002B2CF9AE}" pid="3" name="Creator">
    <vt:lpwstr>PScript5.dll Version 5.2</vt:lpwstr>
  </property>
  <property fmtid="{D5CDD505-2E9C-101B-9397-08002B2CF9AE}" pid="4" name="LastSaved">
    <vt:filetime>2016-10-15T00:00:00Z</vt:filetime>
  </property>
</Properties>
</file>